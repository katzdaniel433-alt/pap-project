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2" r:id="rId10"/>
    <p:sldId id="263" r:id="rId11"/>
    <p:sldId id="270" r:id="rId12"/>
    <p:sldId id="271" r:id="rId13"/>
    <p:sldId id="264" r:id="rId14"/>
    <p:sldId id="265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3939"/>
    <a:srgbClr val="077F7A"/>
    <a:srgbClr val="00D4C8"/>
    <a:srgbClr val="090D14"/>
    <a:srgbClr val="192530"/>
    <a:srgbClr val="0F141D"/>
    <a:srgbClr val="111823"/>
    <a:srgbClr val="11161F"/>
    <a:srgbClr val="121926"/>
    <a:srgbClr val="1219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8"/>
    <p:restoredTop sz="94610"/>
  </p:normalViewPr>
  <p:slideViewPr>
    <p:cSldViewPr snapToGrid="0" snapToObjects="1">
      <p:cViewPr>
        <p:scale>
          <a:sx n="134" d="100"/>
          <a:sy n="134" d="100"/>
        </p:scale>
        <p:origin x="168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DCF drivers</c:v>
                </c:pt>
              </c:strCache>
            </c:strRef>
          </c:tx>
          <c:spPr>
            <a:solidFill>
              <a:schemeClr val="tx1">
                <a:lumMod val="95000"/>
                <a:lumOff val="5000"/>
              </a:schemeClr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2"/>
          <c:dPt>
            <c:idx val="0"/>
            <c:bubble3D val="0"/>
            <c:spPr>
              <a:solidFill>
                <a:srgbClr val="0981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DC5-6748-9E0C-53C516EBED1D}"/>
              </c:ext>
            </c:extLst>
          </c:dPt>
          <c:dPt>
            <c:idx val="1"/>
            <c:bubble3D val="0"/>
            <c:spPr>
              <a:solidFill>
                <a:srgbClr val="00D4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C5-6748-9E0C-53C516EBED1D}"/>
              </c:ext>
            </c:extLst>
          </c:dPt>
          <c:dPt>
            <c:idx val="2"/>
            <c:bubble3D val="0"/>
            <c:spPr>
              <a:solidFill>
                <a:srgbClr val="3939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DC5-6748-9E0C-53C516EBED1D}"/>
              </c:ext>
            </c:extLst>
          </c:dPt>
          <c:dPt>
            <c:idx val="3"/>
            <c:bubble3D val="0"/>
            <c:spPr>
              <a:solidFill>
                <a:schemeClr val="tx1">
                  <a:lumMod val="95000"/>
                  <a:lumOff val="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DC5-6748-9E0C-53C516EBED1D}"/>
              </c:ext>
            </c:extLst>
          </c:dPt>
          <c:dPt>
            <c:idx val="4"/>
            <c:bubble3D val="0"/>
            <c:spPr>
              <a:solidFill>
                <a:schemeClr val="tx1">
                  <a:lumMod val="95000"/>
                  <a:lumOff val="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DC5-6748-9E0C-53C516EBED1D}"/>
              </c:ext>
            </c:extLst>
          </c:dPt>
          <c:dPt>
            <c:idx val="5"/>
            <c:bubble3D val="0"/>
            <c:spPr>
              <a:solidFill>
                <a:schemeClr val="tx1">
                  <a:lumMod val="95000"/>
                  <a:lumOff val="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DC5-6748-9E0C-53C516EBED1D}"/>
              </c:ext>
            </c:extLst>
          </c:dPt>
          <c:dPt>
            <c:idx val="6"/>
            <c:bubble3D val="0"/>
            <c:spPr>
              <a:solidFill>
                <a:schemeClr val="tx1">
                  <a:lumMod val="95000"/>
                  <a:lumOff val="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DC5-6748-9E0C-53C516EBED1D}"/>
              </c:ext>
            </c:extLst>
          </c:dPt>
          <c:dPt>
            <c:idx val="7"/>
            <c:bubble3D val="0"/>
            <c:spPr>
              <a:solidFill>
                <a:schemeClr val="tx1">
                  <a:lumMod val="95000"/>
                  <a:lumOff val="5000"/>
                </a:schemeClr>
              </a:solidFill>
              <a:ln w="9525" cap="flat">
                <a:noFill/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F-3DC5-6748-9E0C-53C516EBED1D}"/>
              </c:ext>
            </c:extLst>
          </c:dPt>
          <c:dPt>
            <c:idx val="8"/>
            <c:bubble3D val="0"/>
            <c:spPr>
              <a:solidFill>
                <a:schemeClr val="tx1">
                  <a:lumMod val="95000"/>
                  <a:lumOff val="5000"/>
                </a:schemeClr>
              </a:solidFill>
              <a:ln w="9525" cap="flat">
                <a:noFill/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0-3DC5-6748-9E0C-53C516EBED1D}"/>
              </c:ext>
            </c:extLst>
          </c:dPt>
          <c:cat>
            <c:strRef>
              <c:f>Sheet1!$A$3:$A$11</c:f>
              <c:strCache>
                <c:ptCount val="3"/>
                <c:pt idx="0">
                  <c:v>Premiums</c:v>
                </c:pt>
                <c:pt idx="2">
                  <c:v>Mortality</c:v>
                </c:pt>
              </c:strCache>
            </c:strRef>
          </c:cat>
          <c:val>
            <c:numRef>
              <c:f>Sheet1!$B$3:$B$11</c:f>
              <c:numCache>
                <c:formatCode>General</c:formatCode>
                <c:ptCount val="9"/>
                <c:pt idx="0">
                  <c:v>33</c:v>
                </c:pt>
                <c:pt idx="1">
                  <c:v>33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DC5-6748-9E0C-53C516EBE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40"/>
        <c:holeSize val="55"/>
      </c:doughnutChart>
      <c:spPr>
        <a:noFill/>
        <a:ln w="12700" cap="flat"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912807900213834E-2"/>
          <c:y val="0"/>
          <c:w val="0.89217438419957229"/>
          <c:h val="0.90375305437092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>
                  <a:alpha val="5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77F7A"/>
              </a:solidFill>
              <a:ln>
                <a:solidFill>
                  <a:schemeClr val="bg1">
                    <a:alpha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FB92-7248-9E0C-CDEF94F2B46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EF07BF9-FD86-1A40-ABDE-874AE7BE604E}" type="VALUE">
                      <a:rPr lang="en-US" sz="105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72332873083692351"/>
                      <c:h val="0.4020822287039146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FB92-7248-9E0C-CDEF94F2B46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59563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92-7248-9E0C-CDEF94F2B4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2"/>
        <c:overlap val="-100"/>
        <c:axId val="93959520"/>
        <c:axId val="93427216"/>
      </c:barChart>
      <c:catAx>
        <c:axId val="93959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27216"/>
        <c:crosses val="autoZero"/>
        <c:auto val="1"/>
        <c:lblAlgn val="ctr"/>
        <c:lblOffset val="100"/>
        <c:noMultiLvlLbl val="0"/>
      </c:catAx>
      <c:valAx>
        <c:axId val="93427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3959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912807900213834E-2"/>
          <c:y val="0"/>
          <c:w val="0.89217438419957229"/>
          <c:h val="0.90375305437092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>
                  <a:alpha val="5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77F7A"/>
              </a:solidFill>
              <a:ln>
                <a:solidFill>
                  <a:schemeClr val="bg1">
                    <a:alpha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615E-EC4A-BEE8-6B9210AEC995}"/>
              </c:ext>
            </c:extLst>
          </c:dPt>
          <c:dLbls>
            <c:dLbl>
              <c:idx val="0"/>
              <c:layout>
                <c:manualLayout>
                  <c:x val="1.8814926310674433E-2"/>
                  <c:y val="9.600206041508509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defRPr>
                    </a:pPr>
                    <a:fld id="{FEF07BF9-FD86-1A40-ABDE-874AE7BE604E}" type="VALUE">
                      <a:rPr lang="en-US" sz="1050"/>
                      <a:pPr>
                        <a:defRPr sz="7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defRPr>
                      </a:pPr>
                      <a:t>[VALUE]</a:t>
                    </a:fld>
                    <a:endParaRPr lang="en-US"/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4806902559422574"/>
                      <c:h val="0.4020822287039146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615E-EC4A-BEE8-6B9210AEC9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5E-EC4A-BEE8-6B9210AEC99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2"/>
        <c:overlap val="-100"/>
        <c:axId val="93959520"/>
        <c:axId val="93427216"/>
      </c:barChart>
      <c:catAx>
        <c:axId val="93959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27216"/>
        <c:crosses val="autoZero"/>
        <c:auto val="1"/>
        <c:lblAlgn val="ctr"/>
        <c:lblOffset val="100"/>
        <c:noMultiLvlLbl val="0"/>
      </c:catAx>
      <c:valAx>
        <c:axId val="93427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3959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912807900213834E-2"/>
          <c:y val="0"/>
          <c:w val="0.89217438419957229"/>
          <c:h val="0.90375305437092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00D4C8"/>
            </a:solidFill>
            <a:ln>
              <a:solidFill>
                <a:schemeClr val="bg1">
                  <a:alpha val="50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6.857305456536363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defRPr>
                    </a:pPr>
                    <a:fld id="{FEF07BF9-FD86-1A40-ABDE-874AE7BE604E}" type="VALUE">
                      <a:rPr lang="en-US" sz="1050"/>
                      <a:pPr>
                        <a:defRPr sz="7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defRPr>
                      </a:pPr>
                      <a:t>[VALUE]</a:t>
                    </a:fld>
                    <a:endParaRPr lang="en-US"/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85503321501164453"/>
                      <c:h val="0.4020822287039146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36E-6145-AB52-A915F0B98E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486426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6E-6145-AB52-A915F0B98E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2"/>
        <c:overlap val="-100"/>
        <c:axId val="93959520"/>
        <c:axId val="93427216"/>
      </c:barChart>
      <c:catAx>
        <c:axId val="93959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27216"/>
        <c:crosses val="autoZero"/>
        <c:auto val="1"/>
        <c:lblAlgn val="ctr"/>
        <c:lblOffset val="100"/>
        <c:noMultiLvlLbl val="0"/>
      </c:catAx>
      <c:valAx>
        <c:axId val="93427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3959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912807900213834E-2"/>
          <c:y val="0"/>
          <c:w val="0.89217438419957229"/>
          <c:h val="0.90375305437092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>
                  <a:alpha val="5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D4C8"/>
              </a:solidFill>
              <a:ln>
                <a:solidFill>
                  <a:schemeClr val="bg1">
                    <a:alpha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674A-EC49-B0AC-CA9724140CE9}"/>
              </c:ext>
            </c:extLst>
          </c:dPt>
          <c:dLbls>
            <c:dLbl>
              <c:idx val="0"/>
              <c:layout>
                <c:manualLayout>
                  <c:x val="1.8814926310674433E-2"/>
                  <c:y val="8.228755749022437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defRPr>
                    </a:pPr>
                    <a:fld id="{FEF07BF9-FD86-1A40-ABDE-874AE7BE604E}" type="VALUE">
                      <a:rPr lang="en-US" sz="1050"/>
                      <a:pPr>
                        <a:defRPr sz="7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defRPr>
                      </a:pPr>
                      <a:t>[VALUE]</a:t>
                    </a:fld>
                    <a:endParaRPr lang="en-US"/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2925409928355136"/>
                      <c:h val="0.4020822287039146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674A-EC49-B0AC-CA9724140C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4A-EC49-B0AC-CA9724140C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2"/>
        <c:overlap val="-100"/>
        <c:axId val="93959520"/>
        <c:axId val="93427216"/>
      </c:barChart>
      <c:catAx>
        <c:axId val="93959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27216"/>
        <c:crosses val="autoZero"/>
        <c:auto val="1"/>
        <c:lblAlgn val="ctr"/>
        <c:lblOffset val="100"/>
        <c:noMultiLvlLbl val="0"/>
      </c:catAx>
      <c:valAx>
        <c:axId val="93427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3959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912807900213834E-2"/>
          <c:y val="0"/>
          <c:w val="0.89217438419957229"/>
          <c:h val="0.90375305437092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077F7A"/>
            </a:solidFill>
            <a:ln>
              <a:solidFill>
                <a:schemeClr val="bg1">
                  <a:alpha val="50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7.4074513034151318E-7"/>
                  <c:y val="8.2287557490224372E-2"/>
                </c:manualLayout>
              </c:layout>
              <c:tx>
                <c:rich>
                  <a:bodyPr/>
                  <a:lstStyle/>
                  <a:p>
                    <a:fld id="{FEF07BF9-FD86-1A40-ABDE-874AE7BE604E}" type="VALUE">
                      <a:rPr lang="en-US" sz="105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9162424666220237"/>
                      <c:h val="0.4020822287039146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3847-1C4E-899B-7B1A8417B3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#,##0</c:formatCode>
                <c:ptCount val="1"/>
                <c:pt idx="0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47-1C4E-899B-7B1A8417B3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2"/>
        <c:overlap val="-100"/>
        <c:axId val="93959520"/>
        <c:axId val="93427216"/>
      </c:barChart>
      <c:catAx>
        <c:axId val="93959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27216"/>
        <c:crosses val="autoZero"/>
        <c:auto val="1"/>
        <c:lblAlgn val="ctr"/>
        <c:lblOffset val="100"/>
        <c:noMultiLvlLbl val="0"/>
      </c:catAx>
      <c:valAx>
        <c:axId val="9342721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93959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912807900213834E-2"/>
          <c:y val="0"/>
          <c:w val="0.89217438419957229"/>
          <c:h val="0.90375305437092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393939"/>
            </a:solidFill>
            <a:ln>
              <a:solidFill>
                <a:schemeClr val="bg1">
                  <a:alpha val="50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1.8814926310674433E-2"/>
                  <c:y val="0.1234310662648065"/>
                </c:manualLayout>
              </c:layout>
              <c:tx>
                <c:rich>
                  <a:bodyPr/>
                  <a:lstStyle/>
                  <a:p>
                    <a:fld id="{FEF07BF9-FD86-1A40-ABDE-874AE7BE604E}" type="VALUE">
                      <a:rPr lang="en-US" sz="105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70451380452624901"/>
                      <c:h val="0.4020822287039146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A2A-354D-BA17-66FFF15506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#,##0</c:formatCode>
                <c:ptCount val="1"/>
                <c:pt idx="0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2A-354D-BA17-66FFF15506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1"/>
        <c:overlap val="-100"/>
        <c:axId val="93959520"/>
        <c:axId val="93427216"/>
      </c:barChart>
      <c:catAx>
        <c:axId val="93959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27216"/>
        <c:crosses val="autoZero"/>
        <c:auto val="1"/>
        <c:lblAlgn val="ctr"/>
        <c:lblOffset val="100"/>
        <c:noMultiLvlLbl val="0"/>
      </c:catAx>
      <c:valAx>
        <c:axId val="9342721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93959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912807900213834E-2"/>
          <c:y val="0"/>
          <c:w val="0.89217438419957229"/>
          <c:h val="0.90375305437092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00D4C8"/>
            </a:solidFill>
            <a:ln>
              <a:solidFill>
                <a:schemeClr val="bg1">
                  <a:alpha val="50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7.4074513034151318E-7"/>
                  <c:y val="9.6002060415085091E-2"/>
                </c:manualLayout>
              </c:layout>
              <c:tx>
                <c:rich>
                  <a:bodyPr/>
                  <a:lstStyle/>
                  <a:p>
                    <a:fld id="{FEF07BF9-FD86-1A40-ABDE-874AE7BE604E}" type="VALUE">
                      <a:rPr lang="en-US" sz="105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1043917297287675"/>
                      <c:h val="0.4020822287039146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4B6-9C4C-A977-36BE655F5D1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#,##0</c:formatCode>
                <c:ptCount val="1"/>
                <c:pt idx="0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B6-9C4C-A977-36BE655F5D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2"/>
        <c:overlap val="-100"/>
        <c:axId val="93959520"/>
        <c:axId val="93427216"/>
      </c:barChart>
      <c:catAx>
        <c:axId val="93959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27216"/>
        <c:crosses val="autoZero"/>
        <c:auto val="1"/>
        <c:lblAlgn val="ctr"/>
        <c:lblOffset val="100"/>
        <c:noMultiLvlLbl val="0"/>
      </c:catAx>
      <c:valAx>
        <c:axId val="9342721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93959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35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27DCA-0CA8-8CA4-9EA3-AB6B467D9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82EFF-E8F6-969C-B637-688CE4AEB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A13799-0FC4-28EB-C3AB-DFBA52ECC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A3A0C-C6EA-DE4B-95FA-49763D64E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84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D4DF5-97D6-480D-5979-E0E00ECBB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575FC-8FC8-4090-DFE2-C37D813FF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B993F-D998-B2E9-F383-0A9CBA91E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9EE43-B444-8DAC-8F73-785F7D2DE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15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8EEDD-9FE8-4F2B-A53C-554C8CB3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E7EEC-108A-182F-896E-CCB39A789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1C7E6-B32B-89C7-6439-C599221D2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9FCC8-81AB-553B-295C-10CA47C2F3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936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10" Type="http://schemas.openxmlformats.org/officeDocument/2006/relationships/image" Target="../media/image5.svg"/><Relationship Id="rId4" Type="http://schemas.openxmlformats.org/officeDocument/2006/relationships/chart" Target="../charts/chart3.xml"/><Relationship Id="rId9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64008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 PRINCIPLES · ACTL4003 Project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868680"/>
            <a:ext cx="7132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</a:t>
            </a:r>
            <a:r>
              <a:rPr lang="en-US" sz="3000" i="1" dirty="0">
                <a:solidFill>
                  <a:srgbClr val="00D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Mesothelioma</a:t>
            </a:r>
            <a:r>
              <a:rPr lang="en-US" sz="30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Survival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Gene Expression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DNA Methylation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9224" y="296722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4B8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 genomic classification study using TCGA data</a:t>
            </a:r>
            <a:endParaRPr lang="en-US" sz="1200" i="1" dirty="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9225" y="33832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Katz</a:t>
            </a:r>
            <a:r>
              <a:rPr lang="en-US" sz="11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21481136</a:t>
            </a:r>
            <a:r>
              <a:rPr lang="en-US" sz="11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r>
              <a:rPr lang="en-US" sz="1100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Nevin Soji</a:t>
            </a:r>
            <a:r>
              <a:rPr lang="en-US" sz="110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21488043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67912"/>
            <a:ext cx="2217420" cy="237744"/>
          </a:xfrm>
          <a:prstGeom prst="roundRect">
            <a:avLst>
              <a:gd name="adj" fmla="val 50000"/>
            </a:avLst>
          </a:prstGeom>
          <a:solidFill>
            <a:srgbClr val="00D4C8">
              <a:alpha val="12000"/>
            </a:srgbClr>
          </a:solidFill>
          <a:ln w="9525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" y="3886200"/>
            <a:ext cx="21991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 · DNA METHYLATION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99272" y="3869799"/>
            <a:ext cx="2372868" cy="237744"/>
          </a:xfrm>
          <a:prstGeom prst="roundRect">
            <a:avLst>
              <a:gd name="adj" fmla="val 50000"/>
            </a:avLst>
          </a:prstGeom>
          <a:solidFill>
            <a:srgbClr val="00D4C8">
              <a:alpha val="12000"/>
            </a:srgbClr>
          </a:solidFill>
          <a:ln w="9525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43784" y="3886200"/>
            <a:ext cx="23545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· RANDOM FOREST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13912" y="3867912"/>
            <a:ext cx="1673352" cy="237744"/>
          </a:xfrm>
          <a:prstGeom prst="roundRect">
            <a:avLst>
              <a:gd name="adj" fmla="val 50000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23056" y="3886200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86 MPM TUMOURS</a:t>
            </a:r>
            <a:endParaRPr lang="en-US" sz="800" dirty="0"/>
          </a:p>
        </p:txBody>
      </p:sp>
      <p:pic>
        <p:nvPicPr>
          <p:cNvPr id="28" name="Graphic 27" descr="DNA outline">
            <a:extLst>
              <a:ext uri="{FF2B5EF4-FFF2-40B4-BE49-F238E27FC236}">
                <a16:creationId xmlns:a16="http://schemas.microsoft.com/office/drawing/2014/main" id="{E1DB41F0-A9A4-93D6-9BC6-85CAF9DA35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6569" y="-333538"/>
            <a:ext cx="3152859" cy="5838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2151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375419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76587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Malignant Pleural Mesothelioma: rare, fatal — and difficult to predict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23901"/>
            <a:ext cx="640080" cy="228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54411"/>
            <a:ext cx="2606040" cy="173736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6850" y="1439565"/>
            <a:ext cx="45720" cy="17373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545851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CONTEXT</a:t>
            </a:r>
            <a:endParaRPr lang="en-US" sz="900" b="1" spc="300" dirty="0"/>
          </a:p>
        </p:txBody>
      </p:sp>
      <p:sp>
        <p:nvSpPr>
          <p:cNvPr id="10" name="Text 8"/>
          <p:cNvSpPr/>
          <p:nvPr/>
        </p:nvSpPr>
        <p:spPr>
          <a:xfrm>
            <a:off x="566928" y="1747019"/>
            <a:ext cx="240487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MPM is a </a:t>
            </a:r>
            <a:r>
              <a:rPr lang="en-US" sz="1200" b="1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thoracic cancer </a:t>
            </a: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caused by asbestos exposure, with highly variable patient outcomes not explained by histology alone.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454411"/>
            <a:ext cx="2606040" cy="173736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2" y="1439565"/>
            <a:ext cx="45720" cy="17373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1545851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900" spc="300" dirty="0"/>
          </a:p>
        </p:txBody>
      </p:sp>
      <p:sp>
        <p:nvSpPr>
          <p:cNvPr id="14" name="Text 12"/>
          <p:cNvSpPr/>
          <p:nvPr/>
        </p:nvSpPr>
        <p:spPr>
          <a:xfrm>
            <a:off x="3355848" y="1747019"/>
            <a:ext cx="240487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clinical groupings only </a:t>
            </a:r>
            <a:r>
              <a:rPr lang="en-US" sz="1200" b="1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explain </a:t>
            </a: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variation. Additional molecular factors likely influence prognosis (Hmeljak et al., 2018).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454411"/>
            <a:ext cx="2606040" cy="173736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2" y="1446247"/>
            <a:ext cx="45720" cy="17373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1545851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900" spc="300" dirty="0"/>
          </a:p>
        </p:txBody>
      </p:sp>
      <p:sp>
        <p:nvSpPr>
          <p:cNvPr id="18" name="Text 16"/>
          <p:cNvSpPr/>
          <p:nvPr/>
        </p:nvSpPr>
        <p:spPr>
          <a:xfrm>
            <a:off x="6144768" y="1747019"/>
            <a:ext cx="240487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200" b="1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multiomic genomic data </a:t>
            </a: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RNA-Seq and DNA methylation — to improve individual-level 500-day survival prediction.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C78BB566-7224-C665-CFE1-9443567106E8}"/>
              </a:ext>
            </a:extLst>
          </p:cNvPr>
          <p:cNvSpPr/>
          <p:nvPr/>
        </p:nvSpPr>
        <p:spPr>
          <a:xfrm>
            <a:off x="393697" y="3347120"/>
            <a:ext cx="8274309" cy="1453480"/>
          </a:xfrm>
          <a:prstGeom prst="roundRect">
            <a:avLst>
              <a:gd name="adj" fmla="val 50000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00E5FC0F-E5E7-6FFD-003E-4A1CFD55FCBF}"/>
              </a:ext>
            </a:extLst>
          </p:cNvPr>
          <p:cNvSpPr/>
          <p:nvPr/>
        </p:nvSpPr>
        <p:spPr>
          <a:xfrm>
            <a:off x="457200" y="3458926"/>
            <a:ext cx="8183880" cy="1229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prognostic models allow more accurate identification of </a:t>
            </a:r>
            <a:r>
              <a:rPr lang="en-US" sz="12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patients </a:t>
            </a:r>
            <a:r>
              <a:rPr lang="en-US" sz="1200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 from targeted treatment, and </a:t>
            </a:r>
            <a:r>
              <a:rPr lang="en-US" sz="12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patients</a:t>
            </a:r>
            <a:r>
              <a:rPr lang="en-US" sz="1200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can avoid unnecessary intervention — improving both outcomes and cost-effectiveness.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SAYS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Work &amp; Methodological Foundations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640080" cy="228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356616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5720" cy="35661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MESOTHELIOMA BIOLOGY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Hmeljak et al. (2018) 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molecularly defined MPM subgroups independent of histological classification via TCGA integrative profiling.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Mangiante et al. (2023) 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MPM via four axes: ploidy, morphology, adaptive immune response, and CpG methylator profile.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7033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Genova et al. (2023) 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multiomic integration better captures tumour heterogeneity than any single data type alone.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023360" cy="3566160"/>
          </a:xfrm>
          <a:prstGeom prst="rect">
            <a:avLst/>
          </a:prstGeom>
          <a:solidFill>
            <a:srgbClr val="131829"/>
          </a:solidFill>
          <a:ln w="9525">
            <a:solidFill>
              <a:srgbClr val="00D4C8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45720" cy="35661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STATISTICAL METHODS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639389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Penalised Regression 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et al. (2010) — reduces overfitting through shrinkage in high-dimensional settings with correlated predictors.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65176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Liaw &amp; Wiener (2002) — captures nonlinear effects and interactions without pre-specification; attractive for complex biology.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651794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et al. (2023) 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Methylation-based cancer prediction supports statistical learning in small-n, high-dimensional genomic settings.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CANCER GENOME ATLAS · TCGA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61119" y="1161288"/>
            <a:ext cx="1920240" cy="123444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1119" y="1161288"/>
            <a:ext cx="192024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119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D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61119" y="21031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8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MPM TUMOURS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119" y="2459736"/>
            <a:ext cx="1920240" cy="123444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119" y="2459736"/>
            <a:ext cx="192024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119" y="26243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D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1119" y="34015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8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RNA-SEQ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" y="3758184"/>
            <a:ext cx="1920240" cy="123444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2628" y="3758184"/>
            <a:ext cx="192024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" y="3922776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D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2628" y="47000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8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METHYLATION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00943" y="2807059"/>
            <a:ext cx="2711831" cy="214884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00944" y="2807059"/>
            <a:ext cx="64565" cy="214884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91248" y="2894767"/>
            <a:ext cx="25215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91247" y="3095935"/>
            <a:ext cx="2502497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sequencing measuring gene activity across the transcriptome, capturing active biological processes in each tumour sample.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62902" y="2803553"/>
            <a:ext cx="2935175" cy="214884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680665" y="2803553"/>
            <a:ext cx="63540" cy="214884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53206" y="2891261"/>
            <a:ext cx="27291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53206" y="3092429"/>
            <a:ext cx="2708599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DNA methylation profiles measuring epigenetic modification at CpG sites, reflecting regulatory state beyond gene sequence.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  <p:sp>
        <p:nvSpPr>
          <p:cNvPr id="36" name="Shape 21">
            <a:extLst>
              <a:ext uri="{FF2B5EF4-FFF2-40B4-BE49-F238E27FC236}">
                <a16:creationId xmlns:a16="http://schemas.microsoft.com/office/drawing/2014/main" id="{CF20A423-04F2-F245-43A7-B9DF4F570EBD}"/>
              </a:ext>
            </a:extLst>
          </p:cNvPr>
          <p:cNvSpPr/>
          <p:nvPr/>
        </p:nvSpPr>
        <p:spPr>
          <a:xfrm>
            <a:off x="2662902" y="1154086"/>
            <a:ext cx="5849872" cy="1453480"/>
          </a:xfrm>
          <a:prstGeom prst="roundRect">
            <a:avLst/>
          </a:prstGeom>
          <a:solidFill>
            <a:srgbClr val="F5A623">
              <a:alpha val="12000"/>
            </a:srgbClr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520B16-2572-02DA-C4C5-DA96C68A5F1B}"/>
              </a:ext>
            </a:extLst>
          </p:cNvPr>
          <p:cNvSpPr txBox="1"/>
          <p:nvPr/>
        </p:nvSpPr>
        <p:spPr>
          <a:xfrm>
            <a:off x="2772630" y="2034411"/>
            <a:ext cx="5740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AU" sz="1200" b="0" i="0" dirty="0">
                <a:solidFill>
                  <a:srgbClr val="B9C6DA"/>
                </a:solidFill>
                <a:effectLst/>
                <a:latin typeface="Inter"/>
              </a:rPr>
              <a:t>Response variable defined from survival information as whether a patient lived longer than 500 days.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3B80D6-B7AB-EF95-FFC4-AA302829030E}"/>
              </a:ext>
            </a:extLst>
          </p:cNvPr>
          <p:cNvSpPr txBox="1"/>
          <p:nvPr/>
        </p:nvSpPr>
        <p:spPr>
          <a:xfrm>
            <a:off x="3414991" y="1216251"/>
            <a:ext cx="4581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AU" sz="3200" b="1" i="0" dirty="0">
                <a:solidFill>
                  <a:srgbClr val="F4F7FB"/>
                </a:solidFill>
                <a:effectLst/>
                <a:latin typeface="Inter"/>
              </a:rPr>
              <a:t>500 days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A79382-51ED-999B-034C-0FA629F4078A}"/>
              </a:ext>
            </a:extLst>
          </p:cNvPr>
          <p:cNvSpPr txBox="1"/>
          <p:nvPr/>
        </p:nvSpPr>
        <p:spPr>
          <a:xfrm>
            <a:off x="2758092" y="1750716"/>
            <a:ext cx="40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AU" sz="1600" b="1" i="0" dirty="0">
                <a:solidFill>
                  <a:srgbClr val="F4F7FB"/>
                </a:solidFill>
                <a:effectLst/>
                <a:latin typeface="Inter"/>
              </a:rPr>
              <a:t>Binary survival threshold</a:t>
            </a:r>
          </a:p>
        </p:txBody>
      </p:sp>
      <p:pic>
        <p:nvPicPr>
          <p:cNvPr id="44" name="Graphic 43" descr="Heartbeat outline">
            <a:extLst>
              <a:ext uri="{FF2B5EF4-FFF2-40B4-BE49-F238E27FC236}">
                <a16:creationId xmlns:a16="http://schemas.microsoft.com/office/drawing/2014/main" id="{834CA3D8-6B86-4B83-6CC4-208D59218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8067" y="1189507"/>
            <a:ext cx="640080" cy="640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88036" y="190053"/>
            <a:ext cx="33261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FFFFFF"/>
                </a:solidFill>
                <a:latin typeface="Georgia" panose="02040502050405020303" pitchFamily="18" charset="0"/>
                <a:ea typeface="Aptos Display" pitchFamily="34" charset="-122"/>
                <a:cs typeface="Aptos Display" pitchFamily="34" charset="-120"/>
              </a:rPr>
              <a:t>Model Framework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8036" y="636494"/>
            <a:ext cx="29489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Multiomics</a:t>
            </a:r>
            <a:r>
              <a:rPr lang="en-US" sz="1200" dirty="0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view of the 500-day survival prediction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4894" y="946404"/>
            <a:ext cx="640800" cy="0"/>
          </a:xfrm>
          <a:prstGeom prst="line">
            <a:avLst/>
          </a:prstGeom>
          <a:noFill/>
          <a:ln w="27940">
            <a:solidFill>
              <a:srgbClr val="48B4C7"/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7" name="Text 5"/>
          <p:cNvSpPr/>
          <p:nvPr/>
        </p:nvSpPr>
        <p:spPr>
          <a:xfrm>
            <a:off x="226314" y="3874770"/>
            <a:ext cx="250317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>
                <a:solidFill>
                  <a:srgbClr val="48B4C7">
                    <a:alpha val="95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</a:t>
            </a:r>
            <a:endParaRPr lang="en-US" sz="3300"/>
          </a:p>
        </p:txBody>
      </p:sp>
      <p:sp>
        <p:nvSpPr>
          <p:cNvPr id="8" name="Text 6"/>
          <p:cNvSpPr/>
          <p:nvPr/>
        </p:nvSpPr>
        <p:spPr>
          <a:xfrm>
            <a:off x="6240780" y="288036"/>
            <a:ext cx="257175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F17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</a:t>
            </a:r>
            <a:endParaRPr lang="en-US" sz="33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743792431"/>
              </p:ext>
            </p:extLst>
          </p:nvPr>
        </p:nvGraphicFramePr>
        <p:xfrm>
          <a:off x="2660788" y="1028700"/>
          <a:ext cx="3282812" cy="2996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3703320" y="1909587"/>
            <a:ext cx="1179576" cy="1179576"/>
          </a:xfrm>
          <a:prstGeom prst="ellipse">
            <a:avLst/>
          </a:prstGeom>
          <a:solidFill>
            <a:schemeClr val="bg2">
              <a:lumMod val="10000"/>
            </a:schemeClr>
          </a:solidFill>
          <a:ln w="12700">
            <a:solidFill>
              <a:srgbClr val="050607"/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11" name="Text 8"/>
          <p:cNvSpPr/>
          <p:nvPr/>
        </p:nvSpPr>
        <p:spPr>
          <a:xfrm>
            <a:off x="3874770" y="2337961"/>
            <a:ext cx="8366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</a:rPr>
              <a:t>ML  MODEL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14166" y="148017"/>
            <a:ext cx="1337310" cy="85725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2700">
            <a:solidFill>
              <a:srgbClr val="050607"/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17" name="Shape 14"/>
          <p:cNvSpPr/>
          <p:nvPr/>
        </p:nvSpPr>
        <p:spPr>
          <a:xfrm>
            <a:off x="3593592" y="3946413"/>
            <a:ext cx="1405890" cy="857250"/>
          </a:xfrm>
          <a:prstGeom prst="ellipse">
            <a:avLst/>
          </a:prstGeom>
          <a:solidFill>
            <a:schemeClr val="bg2">
              <a:lumMod val="10000"/>
            </a:schemeClr>
          </a:solidFill>
          <a:ln w="12700">
            <a:solidFill>
              <a:srgbClr val="050607"/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20" name="Shape 17"/>
          <p:cNvSpPr/>
          <p:nvPr/>
        </p:nvSpPr>
        <p:spPr>
          <a:xfrm>
            <a:off x="4265676" y="3874770"/>
            <a:ext cx="0" cy="140955"/>
          </a:xfrm>
          <a:prstGeom prst="line">
            <a:avLst/>
          </a:prstGeom>
          <a:noFill/>
          <a:ln w="19050">
            <a:solidFill>
              <a:srgbClr val="B8C4D6"/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26" name="Shape 23"/>
          <p:cNvSpPr/>
          <p:nvPr/>
        </p:nvSpPr>
        <p:spPr>
          <a:xfrm>
            <a:off x="2866644" y="2894076"/>
            <a:ext cx="0" cy="0"/>
          </a:xfrm>
          <a:prstGeom prst="line">
            <a:avLst/>
          </a:prstGeom>
          <a:noFill/>
          <a:ln w="13970">
            <a:solidFill>
              <a:srgbClr val="B8C4D6"/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16" name="Shape 13"/>
          <p:cNvSpPr/>
          <p:nvPr/>
        </p:nvSpPr>
        <p:spPr>
          <a:xfrm>
            <a:off x="4273459" y="987552"/>
            <a:ext cx="0" cy="973836"/>
          </a:xfrm>
          <a:prstGeom prst="line">
            <a:avLst/>
          </a:prstGeom>
          <a:noFill/>
          <a:ln w="19050">
            <a:solidFill>
              <a:srgbClr val="B8C4D6"/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27" name="Shape 24"/>
          <p:cNvSpPr/>
          <p:nvPr/>
        </p:nvSpPr>
        <p:spPr>
          <a:xfrm>
            <a:off x="2290572" y="2894076"/>
            <a:ext cx="0" cy="0"/>
          </a:xfrm>
          <a:prstGeom prst="line">
            <a:avLst/>
          </a:prstGeom>
          <a:noFill/>
          <a:ln w="13970">
            <a:solidFill>
              <a:srgbClr val="B8C4D6"/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28" name="Shape 25"/>
          <p:cNvSpPr/>
          <p:nvPr/>
        </p:nvSpPr>
        <p:spPr>
          <a:xfrm>
            <a:off x="6227064" y="946404"/>
            <a:ext cx="2537460" cy="466344"/>
          </a:xfrm>
          <a:prstGeom prst="rect">
            <a:avLst/>
          </a:prstGeom>
          <a:solidFill>
            <a:srgbClr val="172232">
              <a:alpha val="94000"/>
            </a:srgbClr>
          </a:solidFill>
          <a:ln w="13970">
            <a:solidFill>
              <a:srgbClr val="B8C4D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29" name="Shape 26"/>
          <p:cNvSpPr/>
          <p:nvPr/>
        </p:nvSpPr>
        <p:spPr>
          <a:xfrm>
            <a:off x="6261354" y="987552"/>
            <a:ext cx="41148" cy="384048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en-US" sz="2100">
              <a:solidFill>
                <a:srgbClr val="FFC000"/>
              </a:solidFill>
            </a:endParaRPr>
          </a:p>
        </p:txBody>
      </p:sp>
      <p:sp>
        <p:nvSpPr>
          <p:cNvPr id="30" name="Text 27"/>
          <p:cNvSpPr/>
          <p:nvPr/>
        </p:nvSpPr>
        <p:spPr>
          <a:xfrm>
            <a:off x="6364224" y="987552"/>
            <a:ext cx="2304288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Filtering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6364224" y="1200150"/>
            <a:ext cx="2304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600" dirty="0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Variance-based filtering and preprocessing reduce the omics layers to model-ready feature sets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6227064" y="1563624"/>
            <a:ext cx="2537460" cy="466344"/>
          </a:xfrm>
          <a:prstGeom prst="rect">
            <a:avLst/>
          </a:prstGeom>
          <a:solidFill>
            <a:srgbClr val="172232">
              <a:alpha val="94000"/>
            </a:srgbClr>
          </a:solidFill>
          <a:ln w="13970">
            <a:solidFill>
              <a:srgbClr val="B8C4D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33" name="Shape 30"/>
          <p:cNvSpPr/>
          <p:nvPr/>
        </p:nvSpPr>
        <p:spPr>
          <a:xfrm>
            <a:off x="6261354" y="1604772"/>
            <a:ext cx="41148" cy="384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34" name="Text 31"/>
          <p:cNvSpPr/>
          <p:nvPr/>
        </p:nvSpPr>
        <p:spPr>
          <a:xfrm>
            <a:off x="6364224" y="1604772"/>
            <a:ext cx="2304288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6364224" y="1817370"/>
            <a:ext cx="2304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600" dirty="0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net and random forest are compared across expression, methylation, and </a:t>
            </a:r>
            <a:r>
              <a:rPr lang="en-US" sz="600" dirty="0" err="1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multiomic</a:t>
            </a:r>
            <a:r>
              <a:rPr lang="en-US" sz="600" dirty="0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inputs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6227064" y="2180844"/>
            <a:ext cx="2537460" cy="466344"/>
          </a:xfrm>
          <a:prstGeom prst="rect">
            <a:avLst/>
          </a:prstGeom>
          <a:solidFill>
            <a:srgbClr val="172232">
              <a:alpha val="94000"/>
            </a:srgbClr>
          </a:solidFill>
          <a:ln w="13970">
            <a:solidFill>
              <a:srgbClr val="B8C4D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37" name="Shape 34"/>
          <p:cNvSpPr/>
          <p:nvPr/>
        </p:nvSpPr>
        <p:spPr>
          <a:xfrm>
            <a:off x="6261354" y="2221992"/>
            <a:ext cx="41148" cy="384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38" name="Text 35"/>
          <p:cNvSpPr/>
          <p:nvPr/>
        </p:nvSpPr>
        <p:spPr>
          <a:xfrm>
            <a:off x="6364224" y="2221992"/>
            <a:ext cx="2304288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Strategy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6364224" y="2434590"/>
            <a:ext cx="2304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600" dirty="0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cross-validation provides internal validation and tuning in a small cohort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6227064" y="2798064"/>
            <a:ext cx="2537460" cy="466344"/>
          </a:xfrm>
          <a:prstGeom prst="rect">
            <a:avLst/>
          </a:prstGeom>
          <a:solidFill>
            <a:srgbClr val="172232">
              <a:alpha val="94000"/>
            </a:srgbClr>
          </a:solidFill>
          <a:ln w="13970">
            <a:solidFill>
              <a:srgbClr val="B8C4D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41" name="Shape 38"/>
          <p:cNvSpPr/>
          <p:nvPr/>
        </p:nvSpPr>
        <p:spPr>
          <a:xfrm>
            <a:off x="6261354" y="2839212"/>
            <a:ext cx="41148" cy="3840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42" name="Text 39"/>
          <p:cNvSpPr/>
          <p:nvPr/>
        </p:nvSpPr>
        <p:spPr>
          <a:xfrm>
            <a:off x="6364224" y="2839212"/>
            <a:ext cx="2304288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/ Specificity</a:t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6364224" y="3051810"/>
            <a:ext cx="2304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600" dirty="0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is interpreted through discrimination and clinically meaningful classification trade-offs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6227064" y="3415284"/>
            <a:ext cx="2537460" cy="534924"/>
          </a:xfrm>
          <a:prstGeom prst="rect">
            <a:avLst/>
          </a:prstGeom>
          <a:solidFill>
            <a:srgbClr val="172232">
              <a:alpha val="94000"/>
            </a:srgbClr>
          </a:solidFill>
          <a:ln w="13970">
            <a:solidFill>
              <a:srgbClr val="B8C4D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45" name="Shape 42"/>
          <p:cNvSpPr/>
          <p:nvPr/>
        </p:nvSpPr>
        <p:spPr>
          <a:xfrm>
            <a:off x="6261354" y="3456432"/>
            <a:ext cx="41148" cy="452628"/>
          </a:xfrm>
          <a:prstGeom prst="rect">
            <a:avLst/>
          </a:prstGeom>
          <a:solidFill>
            <a:srgbClr val="215F9A"/>
          </a:solidFill>
          <a:ln w="12700">
            <a:noFill/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46" name="Text 43"/>
          <p:cNvSpPr/>
          <p:nvPr/>
        </p:nvSpPr>
        <p:spPr>
          <a:xfrm>
            <a:off x="6364224" y="3456432"/>
            <a:ext cx="2304288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Importance</a:t>
            </a:r>
            <a:endParaRPr lang="en-US" sz="825" dirty="0"/>
          </a:p>
        </p:txBody>
      </p:sp>
      <p:sp>
        <p:nvSpPr>
          <p:cNvPr id="47" name="Text 44"/>
          <p:cNvSpPr/>
          <p:nvPr/>
        </p:nvSpPr>
        <p:spPr>
          <a:xfrm>
            <a:off x="6364224" y="3669030"/>
            <a:ext cx="2304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00" dirty="0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genes and probes help explain which molecular features drive predictive signal</a:t>
            </a:r>
            <a:endParaRPr lang="en-US" sz="600" dirty="0"/>
          </a:p>
        </p:txBody>
      </p:sp>
      <p:sp>
        <p:nvSpPr>
          <p:cNvPr id="48" name="Shape 45"/>
          <p:cNvSpPr/>
          <p:nvPr/>
        </p:nvSpPr>
        <p:spPr>
          <a:xfrm>
            <a:off x="219456" y="2756916"/>
            <a:ext cx="2297430" cy="445770"/>
          </a:xfrm>
          <a:prstGeom prst="rect">
            <a:avLst/>
          </a:prstGeom>
          <a:solidFill>
            <a:srgbClr val="172232">
              <a:alpha val="94000"/>
            </a:srgbClr>
          </a:solidFill>
          <a:ln w="13970">
            <a:solidFill>
              <a:srgbClr val="B8C4D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49" name="Shape 46"/>
          <p:cNvSpPr/>
          <p:nvPr/>
        </p:nvSpPr>
        <p:spPr>
          <a:xfrm>
            <a:off x="253746" y="2798064"/>
            <a:ext cx="41148" cy="363474"/>
          </a:xfrm>
          <a:prstGeom prst="rect">
            <a:avLst/>
          </a:prstGeom>
          <a:solidFill>
            <a:srgbClr val="48B4C7"/>
          </a:solidFill>
          <a:ln w="12700">
            <a:solidFill>
              <a:srgbClr val="48B4C7"/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50" name="Text 47"/>
          <p:cNvSpPr/>
          <p:nvPr/>
        </p:nvSpPr>
        <p:spPr>
          <a:xfrm>
            <a:off x="356616" y="2799483"/>
            <a:ext cx="2064258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size (n=86)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356616" y="3010662"/>
            <a:ext cx="2064258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600" dirty="0">
                <a:solidFill>
                  <a:srgbClr val="D6DFEC"/>
                </a:solidFill>
                <a:latin typeface="Aptos" pitchFamily="34" charset="0"/>
              </a:rPr>
              <a:t>Small-sample setting motivating careful validation and feature filtering</a:t>
            </a:r>
            <a:endParaRPr lang="en-US" sz="600" dirty="0"/>
          </a:p>
        </p:txBody>
      </p:sp>
      <p:sp>
        <p:nvSpPr>
          <p:cNvPr id="52" name="Shape 49"/>
          <p:cNvSpPr/>
          <p:nvPr/>
        </p:nvSpPr>
        <p:spPr>
          <a:xfrm>
            <a:off x="219456" y="3312414"/>
            <a:ext cx="2297430" cy="438912"/>
          </a:xfrm>
          <a:prstGeom prst="rect">
            <a:avLst/>
          </a:prstGeom>
          <a:solidFill>
            <a:srgbClr val="172232">
              <a:alpha val="94000"/>
            </a:srgbClr>
          </a:solidFill>
          <a:ln w="13970">
            <a:solidFill>
              <a:srgbClr val="B8C4D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 sz="600"/>
          </a:p>
        </p:txBody>
      </p:sp>
      <p:sp>
        <p:nvSpPr>
          <p:cNvPr id="53" name="Shape 50"/>
          <p:cNvSpPr/>
          <p:nvPr/>
        </p:nvSpPr>
        <p:spPr>
          <a:xfrm>
            <a:off x="253746" y="3353562"/>
            <a:ext cx="41148" cy="356616"/>
          </a:xfrm>
          <a:prstGeom prst="rect">
            <a:avLst/>
          </a:prstGeom>
          <a:solidFill>
            <a:srgbClr val="56C3D4"/>
          </a:solidFill>
          <a:ln w="12700">
            <a:solidFill>
              <a:srgbClr val="56C3D4"/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54" name="Text 51"/>
          <p:cNvSpPr/>
          <p:nvPr/>
        </p:nvSpPr>
        <p:spPr>
          <a:xfrm>
            <a:off x="356616" y="3354981"/>
            <a:ext cx="2064258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i="1" dirty="0">
                <a:solidFill>
                  <a:srgbClr val="FFFFFF"/>
                </a:solidFill>
                <a:latin typeface="Aptos" pitchFamily="34" charset="0"/>
              </a:rPr>
              <a:t>Biological Heterogeneity </a:t>
            </a:r>
            <a:endParaRPr lang="en-US" sz="825" dirty="0"/>
          </a:p>
        </p:txBody>
      </p:sp>
      <p:sp>
        <p:nvSpPr>
          <p:cNvPr id="55" name="Text 52"/>
          <p:cNvSpPr/>
          <p:nvPr/>
        </p:nvSpPr>
        <p:spPr>
          <a:xfrm>
            <a:off x="356616" y="3566160"/>
            <a:ext cx="206425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600" dirty="0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Marked intertumoral variation motivates multi-omics modelling rather than reliance on morphology alone. </a:t>
            </a:r>
            <a:endParaRPr lang="en-US" sz="600" dirty="0"/>
          </a:p>
        </p:txBody>
      </p:sp>
      <p:sp>
        <p:nvSpPr>
          <p:cNvPr id="56" name="Shape 53"/>
          <p:cNvSpPr/>
          <p:nvPr/>
        </p:nvSpPr>
        <p:spPr>
          <a:xfrm>
            <a:off x="219456" y="1817370"/>
            <a:ext cx="2297430" cy="466344"/>
          </a:xfrm>
          <a:prstGeom prst="rect">
            <a:avLst/>
          </a:prstGeom>
          <a:solidFill>
            <a:srgbClr val="172232">
              <a:alpha val="94000"/>
            </a:srgbClr>
          </a:solidFill>
          <a:ln w="13970">
            <a:solidFill>
              <a:srgbClr val="B8C4D6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 sz="2100"/>
          </a:p>
        </p:txBody>
      </p:sp>
      <p:sp>
        <p:nvSpPr>
          <p:cNvPr id="57" name="Shape 54"/>
          <p:cNvSpPr/>
          <p:nvPr/>
        </p:nvSpPr>
        <p:spPr>
          <a:xfrm>
            <a:off x="253746" y="1858518"/>
            <a:ext cx="41148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243D6E"/>
            </a:solidFill>
            <a:prstDash val="solid"/>
          </a:ln>
        </p:spPr>
        <p:txBody>
          <a:bodyPr/>
          <a:lstStyle/>
          <a:p>
            <a:endParaRPr lang="en-US" sz="21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 55"/>
          <p:cNvSpPr/>
          <p:nvPr/>
        </p:nvSpPr>
        <p:spPr>
          <a:xfrm>
            <a:off x="356616" y="1859937"/>
            <a:ext cx="2064258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TCGA Source</a:t>
            </a:r>
            <a:endParaRPr lang="en-US" sz="825" dirty="0"/>
          </a:p>
        </p:txBody>
      </p:sp>
      <p:sp>
        <p:nvSpPr>
          <p:cNvPr id="59" name="Text 56"/>
          <p:cNvSpPr/>
          <p:nvPr/>
        </p:nvSpPr>
        <p:spPr>
          <a:xfrm>
            <a:off x="356616" y="2071116"/>
            <a:ext cx="206425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600" dirty="0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mesothelioma cohort with matched clinical, expression, and methylation data</a:t>
            </a:r>
            <a:endParaRPr lang="en-US" sz="600" dirty="0"/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43D93604-D59A-71A3-9423-1958D1170529}"/>
              </a:ext>
            </a:extLst>
          </p:cNvPr>
          <p:cNvSpPr/>
          <p:nvPr/>
        </p:nvSpPr>
        <p:spPr>
          <a:xfrm>
            <a:off x="3983297" y="3473577"/>
            <a:ext cx="637794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Multiomic</a:t>
            </a:r>
            <a:endParaRPr lang="en-US" sz="825" dirty="0"/>
          </a:p>
        </p:txBody>
      </p:sp>
      <p:sp>
        <p:nvSpPr>
          <p:cNvPr id="2" name="Text 59">
            <a:extLst>
              <a:ext uri="{FF2B5EF4-FFF2-40B4-BE49-F238E27FC236}">
                <a16:creationId xmlns:a16="http://schemas.microsoft.com/office/drawing/2014/main" id="{72064989-9474-DA1B-B9C5-D200778FE063}"/>
              </a:ext>
            </a:extLst>
          </p:cNvPr>
          <p:cNvSpPr/>
          <p:nvPr/>
        </p:nvSpPr>
        <p:spPr>
          <a:xfrm>
            <a:off x="3123819" y="1937385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Expression</a:t>
            </a:r>
            <a:endParaRPr lang="en-US" sz="825" dirty="0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A2DC9DB4-B65A-58B8-A148-3116E073BA7C}"/>
              </a:ext>
            </a:extLst>
          </p:cNvPr>
          <p:cNvSpPr/>
          <p:nvPr/>
        </p:nvSpPr>
        <p:spPr>
          <a:xfrm>
            <a:off x="3795903" y="4114800"/>
            <a:ext cx="9738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500-Day Threshold</a:t>
            </a:r>
            <a:endParaRPr lang="en-US" sz="1350" dirty="0"/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C5FD028E-CC5B-B2EB-E8C4-34CA461591E6}"/>
              </a:ext>
            </a:extLst>
          </p:cNvPr>
          <p:cNvSpPr/>
          <p:nvPr/>
        </p:nvSpPr>
        <p:spPr>
          <a:xfrm>
            <a:off x="3724730" y="4457700"/>
            <a:ext cx="11367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classification boundary for survival outcome</a:t>
            </a:r>
            <a:endParaRPr lang="en-US" sz="675" dirty="0"/>
          </a:p>
        </p:txBody>
      </p:sp>
      <p:sp>
        <p:nvSpPr>
          <p:cNvPr id="69" name="Text 59">
            <a:extLst>
              <a:ext uri="{FF2B5EF4-FFF2-40B4-BE49-F238E27FC236}">
                <a16:creationId xmlns:a16="http://schemas.microsoft.com/office/drawing/2014/main" id="{BA636388-8A87-B52C-36E0-8C5928371C6A}"/>
              </a:ext>
            </a:extLst>
          </p:cNvPr>
          <p:cNvSpPr/>
          <p:nvPr/>
        </p:nvSpPr>
        <p:spPr>
          <a:xfrm>
            <a:off x="4944618" y="1944241"/>
            <a:ext cx="618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Methylation</a:t>
            </a:r>
            <a:endParaRPr lang="en-US" sz="825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6DC98630-29F3-1BA2-E684-7B66E04AD226}"/>
              </a:ext>
            </a:extLst>
          </p:cNvPr>
          <p:cNvSpPr/>
          <p:nvPr/>
        </p:nvSpPr>
        <p:spPr>
          <a:xfrm>
            <a:off x="3799332" y="308610"/>
            <a:ext cx="9738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AUC CRITERION</a:t>
            </a:r>
            <a:endParaRPr lang="en-US" sz="1350" dirty="0"/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50C385E9-79AE-C0B8-06E8-A504CCF9695F}"/>
              </a:ext>
            </a:extLst>
          </p:cNvPr>
          <p:cNvSpPr/>
          <p:nvPr/>
        </p:nvSpPr>
        <p:spPr>
          <a:xfrm>
            <a:off x="3813048" y="658368"/>
            <a:ext cx="960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D6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tuning parameter used for model selection</a:t>
            </a:r>
            <a:endParaRPr lang="en-US" sz="675" dirty="0"/>
          </a:p>
        </p:txBody>
      </p:sp>
      <p:sp>
        <p:nvSpPr>
          <p:cNvPr id="73" name="Text 59">
            <a:extLst>
              <a:ext uri="{FF2B5EF4-FFF2-40B4-BE49-F238E27FC236}">
                <a16:creationId xmlns:a16="http://schemas.microsoft.com/office/drawing/2014/main" id="{9AC2DEC3-B39B-4A4D-B385-0CD4252B64A9}"/>
              </a:ext>
            </a:extLst>
          </p:cNvPr>
          <p:cNvSpPr/>
          <p:nvPr/>
        </p:nvSpPr>
        <p:spPr>
          <a:xfrm>
            <a:off x="4898361" y="-1923669"/>
            <a:ext cx="618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Methylation</a:t>
            </a:r>
            <a:endParaRPr lang="en-US" sz="825" dirty="0"/>
          </a:p>
        </p:txBody>
      </p:sp>
      <p:sp>
        <p:nvSpPr>
          <p:cNvPr id="74" name="Text 33">
            <a:extLst>
              <a:ext uri="{FF2B5EF4-FFF2-40B4-BE49-F238E27FC236}">
                <a16:creationId xmlns:a16="http://schemas.microsoft.com/office/drawing/2014/main" id="{46330400-15EB-A134-FB13-EBC6C6601C4F}"/>
              </a:ext>
            </a:extLst>
          </p:cNvPr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Construction</a:t>
            </a:r>
            <a:endParaRPr lang="en-US" sz="2600" dirty="0"/>
          </a:p>
        </p:txBody>
      </p:sp>
      <p:sp>
        <p:nvSpPr>
          <p:cNvPr id="91" name="Shape 9">
            <a:extLst>
              <a:ext uri="{FF2B5EF4-FFF2-40B4-BE49-F238E27FC236}">
                <a16:creationId xmlns:a16="http://schemas.microsoft.com/office/drawing/2014/main" id="{D57623F1-85A2-9A69-2D57-8F02C5BC54CC}"/>
              </a:ext>
            </a:extLst>
          </p:cNvPr>
          <p:cNvSpPr/>
          <p:nvPr/>
        </p:nvSpPr>
        <p:spPr>
          <a:xfrm>
            <a:off x="6185426" y="986312"/>
            <a:ext cx="2243170" cy="1184506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2" name="Shape 10">
            <a:extLst>
              <a:ext uri="{FF2B5EF4-FFF2-40B4-BE49-F238E27FC236}">
                <a16:creationId xmlns:a16="http://schemas.microsoft.com/office/drawing/2014/main" id="{8C15FF77-56CD-011F-343B-A44A480B5EB1}"/>
              </a:ext>
            </a:extLst>
          </p:cNvPr>
          <p:cNvSpPr/>
          <p:nvPr/>
        </p:nvSpPr>
        <p:spPr>
          <a:xfrm>
            <a:off x="6185426" y="936028"/>
            <a:ext cx="2243170" cy="49365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13">
            <a:extLst>
              <a:ext uri="{FF2B5EF4-FFF2-40B4-BE49-F238E27FC236}">
                <a16:creationId xmlns:a16="http://schemas.microsoft.com/office/drawing/2014/main" id="{F2D94B4A-486E-3AC8-DCD8-FA957E749C68}"/>
              </a:ext>
            </a:extLst>
          </p:cNvPr>
          <p:cNvSpPr/>
          <p:nvPr/>
        </p:nvSpPr>
        <p:spPr>
          <a:xfrm>
            <a:off x="464626" y="916924"/>
            <a:ext cx="5489890" cy="1253894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4" name="Shape 14">
            <a:extLst>
              <a:ext uri="{FF2B5EF4-FFF2-40B4-BE49-F238E27FC236}">
                <a16:creationId xmlns:a16="http://schemas.microsoft.com/office/drawing/2014/main" id="{66D5A390-7CD9-F524-8312-2642833FB6C6}"/>
              </a:ext>
            </a:extLst>
          </p:cNvPr>
          <p:cNvSpPr/>
          <p:nvPr/>
        </p:nvSpPr>
        <p:spPr>
          <a:xfrm>
            <a:off x="479260" y="935110"/>
            <a:ext cx="5489890" cy="51202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6" name="Table 95">
            <a:extLst>
              <a:ext uri="{FF2B5EF4-FFF2-40B4-BE49-F238E27FC236}">
                <a16:creationId xmlns:a16="http://schemas.microsoft.com/office/drawing/2014/main" id="{F3EB9485-F491-766D-B094-59209259A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884570"/>
              </p:ext>
            </p:extLst>
          </p:nvPr>
        </p:nvGraphicFramePr>
        <p:xfrm>
          <a:off x="6185426" y="993221"/>
          <a:ext cx="2243170" cy="1204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6">
                  <a:extLst>
                    <a:ext uri="{9D8B030D-6E8A-4147-A177-3AD203B41FA5}">
                      <a16:colId xmlns:a16="http://schemas.microsoft.com/office/drawing/2014/main" val="1974070609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1070503327"/>
                    </a:ext>
                  </a:extLst>
                </a:gridCol>
              </a:tblGrid>
              <a:tr h="306874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Dataset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Cases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496904"/>
                  </a:ext>
                </a:extLst>
              </a:tr>
              <a:tr h="2244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50" b="0" dirty="0">
                          <a:solidFill>
                            <a:schemeClr val="bg1"/>
                          </a:solidFill>
                          <a:effectLst/>
                        </a:rPr>
                        <a:t>Clinical master</a:t>
                      </a:r>
                    </a:p>
                  </a:txBody>
                  <a:tcPr marL="95250" marR="952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50" dirty="0">
                          <a:solidFill>
                            <a:schemeClr val="bg1"/>
                          </a:solidFill>
                          <a:effectLst/>
                        </a:rPr>
                        <a:t>86</a:t>
                      </a:r>
                    </a:p>
                  </a:txBody>
                  <a:tcPr marL="95250" marR="952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13769"/>
                  </a:ext>
                </a:extLst>
              </a:tr>
              <a:tr h="2244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50" b="0" dirty="0">
                          <a:solidFill>
                            <a:schemeClr val="bg1"/>
                          </a:solidFill>
                          <a:effectLst/>
                        </a:rPr>
                        <a:t>Expression matched</a:t>
                      </a:r>
                    </a:p>
                  </a:txBody>
                  <a:tcPr marL="95250" marR="952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50" dirty="0">
                          <a:solidFill>
                            <a:schemeClr val="bg1"/>
                          </a:solidFill>
                          <a:effectLst/>
                        </a:rPr>
                        <a:t>85</a:t>
                      </a:r>
                    </a:p>
                  </a:txBody>
                  <a:tcPr marL="95250" marR="952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498901"/>
                  </a:ext>
                </a:extLst>
              </a:tr>
              <a:tr h="2244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50" b="0" dirty="0">
                          <a:solidFill>
                            <a:schemeClr val="bg1"/>
                          </a:solidFill>
                          <a:effectLst/>
                        </a:rPr>
                        <a:t>Methylation matched</a:t>
                      </a:r>
                    </a:p>
                  </a:txBody>
                  <a:tcPr marL="95250" marR="952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50" dirty="0">
                          <a:solidFill>
                            <a:schemeClr val="bg1"/>
                          </a:solidFill>
                          <a:effectLst/>
                        </a:rPr>
                        <a:t>86</a:t>
                      </a:r>
                    </a:p>
                  </a:txBody>
                  <a:tcPr marL="95250" marR="952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581488"/>
                  </a:ext>
                </a:extLst>
              </a:tr>
              <a:tr h="2244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50" b="0" dirty="0" err="1">
                          <a:solidFill>
                            <a:schemeClr val="bg1"/>
                          </a:solidFill>
                          <a:effectLst/>
                        </a:rPr>
                        <a:t>Multiomic</a:t>
                      </a:r>
                      <a:r>
                        <a:rPr lang="en-AU" sz="1050" b="0" dirty="0">
                          <a:solidFill>
                            <a:schemeClr val="bg1"/>
                          </a:solidFill>
                          <a:effectLst/>
                        </a:rPr>
                        <a:t> matched</a:t>
                      </a:r>
                    </a:p>
                  </a:txBody>
                  <a:tcPr marL="95250" marR="952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50" dirty="0">
                          <a:solidFill>
                            <a:schemeClr val="bg1"/>
                          </a:solidFill>
                          <a:effectLst/>
                        </a:rPr>
                        <a:t>85</a:t>
                      </a:r>
                    </a:p>
                  </a:txBody>
                  <a:tcPr marL="95250" marR="952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063103"/>
                  </a:ext>
                </a:extLst>
              </a:tr>
            </a:tbl>
          </a:graphicData>
        </a:graphic>
      </p:graphicFrame>
      <p:sp>
        <p:nvSpPr>
          <p:cNvPr id="101" name="TextBox 100">
            <a:extLst>
              <a:ext uri="{FF2B5EF4-FFF2-40B4-BE49-F238E27FC236}">
                <a16:creationId xmlns:a16="http://schemas.microsoft.com/office/drawing/2014/main" id="{6D194F30-E95A-1C07-07A1-97A602256AA7}"/>
              </a:ext>
            </a:extLst>
          </p:cNvPr>
          <p:cNvSpPr txBox="1"/>
          <p:nvPr/>
        </p:nvSpPr>
        <p:spPr>
          <a:xfrm>
            <a:off x="464626" y="1209547"/>
            <a:ext cx="5438387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F4F7F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Clinical missingness needed to be checked, but modelling focused on omics rather than expanded clinical benchmarking.</a:t>
            </a:r>
          </a:p>
          <a:p>
            <a:pPr marL="171450" indent="-17145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F4F7F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PCA on top-variance features suggested substantial heterogeneity rather than clean class separation.</a:t>
            </a:r>
          </a:p>
          <a:p>
            <a:pPr marL="171450" indent="-17145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F4F7F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supported supervised modelling rather than relying on visual clustering.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E15E6B5-E5AE-6CC2-E31B-B6FB3B14FD5B}"/>
              </a:ext>
            </a:extLst>
          </p:cNvPr>
          <p:cNvSpPr txBox="1"/>
          <p:nvPr/>
        </p:nvSpPr>
        <p:spPr>
          <a:xfrm>
            <a:off x="548640" y="987299"/>
            <a:ext cx="32058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AU" sz="1200" b="1" i="0" dirty="0">
                <a:solidFill>
                  <a:srgbClr val="F4F7FB"/>
                </a:solidFill>
                <a:effectLst/>
                <a:latin typeface="Georgia" panose="02040502050405020303" pitchFamily="18" charset="0"/>
                <a:cs typeface="Calibri" panose="020F0502020204030204" pitchFamily="34" charset="0"/>
              </a:rPr>
              <a:t>EDA takeaway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7B27BA8D-A680-9052-DBEB-B7DA6AE706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79" r="740"/>
          <a:stretch>
            <a:fillRect/>
          </a:stretch>
        </p:blipFill>
        <p:spPr>
          <a:xfrm>
            <a:off x="616669" y="2641585"/>
            <a:ext cx="3988829" cy="2187416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FEBEB3D2-D293-218D-08CF-1612695739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814"/>
          <a:stretch>
            <a:fillRect/>
          </a:stretch>
        </p:blipFill>
        <p:spPr>
          <a:xfrm>
            <a:off x="4838708" y="2681873"/>
            <a:ext cx="3641391" cy="2241686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309CFDE4-4BFD-08A2-C05C-DD809A461334}"/>
              </a:ext>
            </a:extLst>
          </p:cNvPr>
          <p:cNvSpPr txBox="1"/>
          <p:nvPr/>
        </p:nvSpPr>
        <p:spPr>
          <a:xfrm>
            <a:off x="4934509" y="2439809"/>
            <a:ext cx="57206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Top-variance methylation features </a:t>
            </a:r>
            <a:r>
              <a:rPr lang="en-US" sz="900" dirty="0" err="1">
                <a:solidFill>
                  <a:schemeClr val="bg1">
                    <a:lumMod val="85000"/>
                  </a:schemeClr>
                </a:solidFill>
              </a:rPr>
              <a:t>coloured</a:t>
            </a:r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 by 500-day survival outcome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E6393D6-FE02-D8AD-90B3-C25750CD55EC}"/>
              </a:ext>
            </a:extLst>
          </p:cNvPr>
          <p:cNvSpPr txBox="1"/>
          <p:nvPr/>
        </p:nvSpPr>
        <p:spPr>
          <a:xfrm>
            <a:off x="4934509" y="2262273"/>
            <a:ext cx="52008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Methylation PCA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F9F65CD-A333-E4FF-A685-96E618FC77B2}"/>
              </a:ext>
            </a:extLst>
          </p:cNvPr>
          <p:cNvSpPr txBox="1"/>
          <p:nvPr/>
        </p:nvSpPr>
        <p:spPr>
          <a:xfrm>
            <a:off x="623758" y="2316514"/>
            <a:ext cx="52008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500-day Survival Class Balance by Cohort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33FFAAC7-EE40-0962-9B3B-407815ED2270}"/>
              </a:ext>
            </a:extLst>
          </p:cNvPr>
          <p:cNvSpPr/>
          <p:nvPr/>
        </p:nvSpPr>
        <p:spPr>
          <a:xfrm>
            <a:off x="385010" y="2294113"/>
            <a:ext cx="8279729" cy="2629446"/>
          </a:xfrm>
          <a:prstGeom prst="roundRect">
            <a:avLst/>
          </a:prstGeom>
          <a:noFill/>
          <a:ln>
            <a:solidFill>
              <a:srgbClr val="077F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0729FCB-D3AD-992B-5ACA-BF8A2D58A06C}"/>
              </a:ext>
            </a:extLst>
          </p:cNvPr>
          <p:cNvCxnSpPr/>
          <p:nvPr/>
        </p:nvCxnSpPr>
        <p:spPr>
          <a:xfrm flipV="1">
            <a:off x="4741333" y="3073400"/>
            <a:ext cx="0" cy="1075267"/>
          </a:xfrm>
          <a:prstGeom prst="line">
            <a:avLst/>
          </a:prstGeom>
          <a:ln w="25400">
            <a:solidFill>
              <a:srgbClr val="3939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 33">
            <a:extLst>
              <a:ext uri="{FF2B5EF4-FFF2-40B4-BE49-F238E27FC236}">
                <a16:creationId xmlns:a16="http://schemas.microsoft.com/office/drawing/2014/main" id="{18AA8D81-5376-9783-5A7C-BB73C0C16FF6}"/>
              </a:ext>
            </a:extLst>
          </p:cNvPr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6918F-3BCC-C4E2-F0FE-6C061AB30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43FFA2-512A-B753-AEDE-FAB93919925F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CBC715-E5C9-DB31-7FAE-314B94F862A7}"/>
              </a:ext>
            </a:extLst>
          </p:cNvPr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ED4DBB-1644-A5BF-0654-F6B1855FFE5E}"/>
              </a:ext>
            </a:extLst>
          </p:cNvPr>
          <p:cNvSpPr/>
          <p:nvPr/>
        </p:nvSpPr>
        <p:spPr>
          <a:xfrm>
            <a:off x="54864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A625E9C-7CB2-9B6F-1867-CCDBBCFD4718}"/>
              </a:ext>
            </a:extLst>
          </p:cNvPr>
          <p:cNvSpPr/>
          <p:nvPr/>
        </p:nvSpPr>
        <p:spPr>
          <a:xfrm>
            <a:off x="548640" y="3840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Construction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0BCABA3-BC78-FA41-AE90-5144B3894F49}"/>
              </a:ext>
            </a:extLst>
          </p:cNvPr>
          <p:cNvSpPr/>
          <p:nvPr/>
        </p:nvSpPr>
        <p:spPr>
          <a:xfrm>
            <a:off x="548640" y="1097280"/>
            <a:ext cx="640080" cy="228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020886C-F33E-44CF-8F7C-6E85AABD428F}"/>
              </a:ext>
            </a:extLst>
          </p:cNvPr>
          <p:cNvSpPr/>
          <p:nvPr/>
        </p:nvSpPr>
        <p:spPr>
          <a:xfrm>
            <a:off x="457200" y="1280160"/>
            <a:ext cx="2682661" cy="2520297"/>
          </a:xfrm>
          <a:prstGeom prst="rect">
            <a:avLst/>
          </a:prstGeom>
          <a:solidFill>
            <a:srgbClr val="131829"/>
          </a:solidFill>
          <a:ln w="9525">
            <a:solidFill>
              <a:srgbClr val="077F7A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5E56988-8EE6-FE77-C8BE-0297750CF231}"/>
              </a:ext>
            </a:extLst>
          </p:cNvPr>
          <p:cNvSpPr/>
          <p:nvPr/>
        </p:nvSpPr>
        <p:spPr>
          <a:xfrm>
            <a:off x="457200" y="1280160"/>
            <a:ext cx="45719" cy="2520297"/>
          </a:xfrm>
          <a:prstGeom prst="rect">
            <a:avLst/>
          </a:prstGeom>
          <a:solidFill>
            <a:srgbClr val="077F7A"/>
          </a:solidFill>
          <a:ln w="12700">
            <a:solidFill>
              <a:srgbClr val="077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5EE9F89-CFF7-1A27-E700-BCE85107F993}"/>
              </a:ext>
            </a:extLst>
          </p:cNvPr>
          <p:cNvSpPr/>
          <p:nvPr/>
        </p:nvSpPr>
        <p:spPr>
          <a:xfrm>
            <a:off x="594360" y="1389888"/>
            <a:ext cx="2844062" cy="2012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7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RNA EXPRESSION</a:t>
            </a:r>
            <a:endParaRPr lang="en-US" sz="900" dirty="0">
              <a:solidFill>
                <a:srgbClr val="077F7A"/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C24E0EE-A424-4DC8-7D4F-434C9FBDF79B}"/>
              </a:ext>
            </a:extLst>
          </p:cNvPr>
          <p:cNvSpPr/>
          <p:nvPr/>
        </p:nvSpPr>
        <p:spPr>
          <a:xfrm>
            <a:off x="3304453" y="1280160"/>
            <a:ext cx="2682661" cy="2520297"/>
          </a:xfrm>
          <a:prstGeom prst="rect">
            <a:avLst/>
          </a:prstGeom>
          <a:solidFill>
            <a:srgbClr val="131829"/>
          </a:solidFill>
          <a:ln w="9525">
            <a:solidFill>
              <a:srgbClr val="00D4C8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1133141-8315-3AA6-5E3F-57C78FCEBBD2}"/>
              </a:ext>
            </a:extLst>
          </p:cNvPr>
          <p:cNvSpPr/>
          <p:nvPr/>
        </p:nvSpPr>
        <p:spPr>
          <a:xfrm>
            <a:off x="3304453" y="1280160"/>
            <a:ext cx="45719" cy="2520297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ECBF474-274D-F45D-FCE0-2004D910F65A}"/>
              </a:ext>
            </a:extLst>
          </p:cNvPr>
          <p:cNvSpPr/>
          <p:nvPr/>
        </p:nvSpPr>
        <p:spPr>
          <a:xfrm>
            <a:off x="3441613" y="1389888"/>
            <a:ext cx="2844062" cy="2012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 DNA METHYLATION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473498A-B26D-1C1B-CB85-742802712B83}"/>
              </a:ext>
            </a:extLst>
          </p:cNvPr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15009377-6DE0-C73F-F05C-6762441819ED}"/>
              </a:ext>
            </a:extLst>
          </p:cNvPr>
          <p:cNvSpPr/>
          <p:nvPr/>
        </p:nvSpPr>
        <p:spPr>
          <a:xfrm>
            <a:off x="6151706" y="1280160"/>
            <a:ext cx="2682661" cy="2520297"/>
          </a:xfrm>
          <a:prstGeom prst="rect">
            <a:avLst/>
          </a:prstGeom>
          <a:solidFill>
            <a:srgbClr val="131829"/>
          </a:solidFill>
          <a:ln w="9525">
            <a:solidFill>
              <a:srgbClr val="393939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E94605E9-13C5-1E46-761F-D35CCDF4BF15}"/>
              </a:ext>
            </a:extLst>
          </p:cNvPr>
          <p:cNvSpPr/>
          <p:nvPr/>
        </p:nvSpPr>
        <p:spPr>
          <a:xfrm>
            <a:off x="6151706" y="1280160"/>
            <a:ext cx="45719" cy="2520297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4F9A0193-28EE-9B32-63CD-0648EC31E18D}"/>
              </a:ext>
            </a:extLst>
          </p:cNvPr>
          <p:cNvSpPr/>
          <p:nvPr/>
        </p:nvSpPr>
        <p:spPr>
          <a:xfrm>
            <a:off x="6288866" y="1389888"/>
            <a:ext cx="2844062" cy="2012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9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 MULTIOMIC</a:t>
            </a:r>
            <a:endParaRPr lang="en-US" sz="900" dirty="0">
              <a:solidFill>
                <a:srgbClr val="393939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4522C9-7240-0264-0315-A6159109B402}"/>
              </a:ext>
            </a:extLst>
          </p:cNvPr>
          <p:cNvSpPr txBox="1"/>
          <p:nvPr/>
        </p:nvSpPr>
        <p:spPr>
          <a:xfrm>
            <a:off x="594360" y="1643241"/>
            <a:ext cx="25455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Raw Features: 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59,563 genes</a:t>
            </a:r>
          </a:p>
          <a:p>
            <a:pPr marL="171450" indent="-1714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Labelled cases: 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80</a:t>
            </a:r>
          </a:p>
          <a:p>
            <a:pPr marL="171450" indent="-1714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Filtering: 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genes + remove zero variance + top 2,000 by variance</a:t>
            </a:r>
          </a:p>
          <a:p>
            <a:pPr marL="171450" indent="-1714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Matrix: 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80 x 2,000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2A672A-DCE5-AEF6-F91A-50BFDBF072BA}"/>
              </a:ext>
            </a:extLst>
          </p:cNvPr>
          <p:cNvSpPr txBox="1"/>
          <p:nvPr/>
        </p:nvSpPr>
        <p:spPr>
          <a:xfrm>
            <a:off x="3350172" y="1612897"/>
            <a:ext cx="2710093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Raw Features: 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486,426 probes</a:t>
            </a: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Labelled Cases: 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81</a:t>
            </a: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Filtering: 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Remove probes with &gt;10% missingness; undefined variance; median impute; retain top 2,000 by variance.</a:t>
            </a: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Matrix: 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81 x 2,000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C0E23F-9860-E73E-B0AA-F9FE66A2E78E}"/>
              </a:ext>
            </a:extLst>
          </p:cNvPr>
          <p:cNvSpPr txBox="1"/>
          <p:nvPr/>
        </p:nvSpPr>
        <p:spPr>
          <a:xfrm>
            <a:off x="6209635" y="1601973"/>
            <a:ext cx="2618652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combined expression + methylation</a:t>
            </a: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Labelled Cases: 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80</a:t>
            </a: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Construction: 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1,000 expression +top 1,000 methylation</a:t>
            </a: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Retained Features: 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2,000</a:t>
            </a: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SzPct val="75000"/>
              <a:buFont typeface="Wingdings" pitchFamily="2" charset="2"/>
              <a:buChar char="Ø"/>
            </a:pPr>
            <a:r>
              <a:rPr lang="en-US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Matrix</a:t>
            </a:r>
            <a:r>
              <a:rPr 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80 x 2,000</a:t>
            </a:r>
          </a:p>
        </p:txBody>
      </p:sp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783D7546-1ECB-03F7-15B4-65DB483A39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1277218"/>
              </p:ext>
            </p:extLst>
          </p:nvPr>
        </p:nvGraphicFramePr>
        <p:xfrm>
          <a:off x="930192" y="2534803"/>
          <a:ext cx="674996" cy="926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15EBE5E6-64A0-CCE7-E39F-8F0983A516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5733986"/>
              </p:ext>
            </p:extLst>
          </p:nvPr>
        </p:nvGraphicFramePr>
        <p:xfrm>
          <a:off x="2038352" y="2534803"/>
          <a:ext cx="674996" cy="926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E9DD911E-290D-9D68-4167-9A0C234729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2965913"/>
              </p:ext>
            </p:extLst>
          </p:nvPr>
        </p:nvGraphicFramePr>
        <p:xfrm>
          <a:off x="3777445" y="2534803"/>
          <a:ext cx="674996" cy="926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ACB8DD44-B8EB-1B53-3948-360AAABDC7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686039"/>
              </p:ext>
            </p:extLst>
          </p:nvPr>
        </p:nvGraphicFramePr>
        <p:xfrm>
          <a:off x="4876128" y="2534804"/>
          <a:ext cx="674996" cy="926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24C77199-2434-33DD-D6D1-2B525007CA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9135374"/>
              </p:ext>
            </p:extLst>
          </p:nvPr>
        </p:nvGraphicFramePr>
        <p:xfrm>
          <a:off x="6402118" y="2516859"/>
          <a:ext cx="674996" cy="926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4CDC07B0-1222-CBD1-A76E-19C6804C90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1867288"/>
              </p:ext>
            </p:extLst>
          </p:nvPr>
        </p:nvGraphicFramePr>
        <p:xfrm>
          <a:off x="8023501" y="2516859"/>
          <a:ext cx="674996" cy="926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7" name="Chart 46">
            <a:extLst>
              <a:ext uri="{FF2B5EF4-FFF2-40B4-BE49-F238E27FC236}">
                <a16:creationId xmlns:a16="http://schemas.microsoft.com/office/drawing/2014/main" id="{1A470F8C-F5EB-DA9D-30FC-3076B842CA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7825540"/>
              </p:ext>
            </p:extLst>
          </p:nvPr>
        </p:nvGraphicFramePr>
        <p:xfrm>
          <a:off x="7218527" y="2521007"/>
          <a:ext cx="674996" cy="926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DE758165-90CF-EB49-F41E-91A4BCF6EC15}"/>
              </a:ext>
            </a:extLst>
          </p:cNvPr>
          <p:cNvSpPr txBox="1"/>
          <p:nvPr/>
        </p:nvSpPr>
        <p:spPr>
          <a:xfrm>
            <a:off x="1709221" y="2712769"/>
            <a:ext cx="784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͢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767FB7-A1A4-65C3-A3AE-BE7450734B42}"/>
              </a:ext>
            </a:extLst>
          </p:cNvPr>
          <p:cNvSpPr txBox="1"/>
          <p:nvPr/>
        </p:nvSpPr>
        <p:spPr>
          <a:xfrm>
            <a:off x="4573922" y="2712769"/>
            <a:ext cx="784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͢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B0B394-1016-7919-B866-65D5949F7879}"/>
              </a:ext>
            </a:extLst>
          </p:cNvPr>
          <p:cNvSpPr txBox="1"/>
          <p:nvPr/>
        </p:nvSpPr>
        <p:spPr>
          <a:xfrm>
            <a:off x="7810011" y="2938161"/>
            <a:ext cx="29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66F729-D35D-CC2B-1827-279E4E825712}"/>
              </a:ext>
            </a:extLst>
          </p:cNvPr>
          <p:cNvSpPr txBox="1"/>
          <p:nvPr/>
        </p:nvSpPr>
        <p:spPr>
          <a:xfrm>
            <a:off x="7025759" y="2984020"/>
            <a:ext cx="29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31E39B0-B249-2DFA-3C96-7C218992A8EF}"/>
              </a:ext>
            </a:extLst>
          </p:cNvPr>
          <p:cNvSpPr/>
          <p:nvPr/>
        </p:nvSpPr>
        <p:spPr>
          <a:xfrm>
            <a:off x="3780158" y="513914"/>
            <a:ext cx="1257271" cy="605133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Master File n=86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C9AD9ED9-653B-5550-BB2E-885CF6E180A0}"/>
              </a:ext>
            </a:extLst>
          </p:cNvPr>
          <p:cNvSpPr/>
          <p:nvPr/>
        </p:nvSpPr>
        <p:spPr>
          <a:xfrm>
            <a:off x="5363843" y="509710"/>
            <a:ext cx="945931" cy="605133"/>
          </a:xfrm>
          <a:prstGeom prst="roundRect">
            <a:avLst/>
          </a:prstGeom>
          <a:noFill/>
          <a:ln>
            <a:solidFill>
              <a:srgbClr val="077F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Expression Matched n=85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09D596A-4404-397A-CC81-F043C9307D67}"/>
              </a:ext>
            </a:extLst>
          </p:cNvPr>
          <p:cNvSpPr/>
          <p:nvPr/>
        </p:nvSpPr>
        <p:spPr>
          <a:xfrm>
            <a:off x="6556283" y="520669"/>
            <a:ext cx="945931" cy="605133"/>
          </a:xfrm>
          <a:prstGeom prst="roundRect">
            <a:avLst/>
          </a:prstGeom>
          <a:noFill/>
          <a:ln>
            <a:solidFill>
              <a:srgbClr val="00D4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Methylation matched n=86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ACECF79E-5F28-A12A-FDA0-45E74F2B0EE0}"/>
              </a:ext>
            </a:extLst>
          </p:cNvPr>
          <p:cNvSpPr/>
          <p:nvPr/>
        </p:nvSpPr>
        <p:spPr>
          <a:xfrm>
            <a:off x="7748723" y="523836"/>
            <a:ext cx="945931" cy="605133"/>
          </a:xfrm>
          <a:prstGeom prst="roundRect">
            <a:avLst/>
          </a:prstGeom>
          <a:noFill/>
          <a:ln>
            <a:solidFill>
              <a:srgbClr val="393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Multiomic</a:t>
            </a:r>
            <a:r>
              <a:rPr lang="en-US" sz="900" dirty="0"/>
              <a:t> matched n=85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166A3F-C07F-2FE7-54F0-360913F16654}"/>
              </a:ext>
            </a:extLst>
          </p:cNvPr>
          <p:cNvSpPr txBox="1"/>
          <p:nvPr/>
        </p:nvSpPr>
        <p:spPr>
          <a:xfrm>
            <a:off x="5105217" y="586959"/>
            <a:ext cx="22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͢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5AA985-281B-C728-FCA8-5073747A81C7}"/>
              </a:ext>
            </a:extLst>
          </p:cNvPr>
          <p:cNvSpPr txBox="1"/>
          <p:nvPr/>
        </p:nvSpPr>
        <p:spPr>
          <a:xfrm>
            <a:off x="6339800" y="585216"/>
            <a:ext cx="22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͢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316E16-120F-3A5E-0565-B410C6008505}"/>
              </a:ext>
            </a:extLst>
          </p:cNvPr>
          <p:cNvSpPr txBox="1"/>
          <p:nvPr/>
        </p:nvSpPr>
        <p:spPr>
          <a:xfrm>
            <a:off x="7537525" y="601457"/>
            <a:ext cx="22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͢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05EA241-75AE-B892-C42A-4BE52EEC0922}"/>
              </a:ext>
            </a:extLst>
          </p:cNvPr>
          <p:cNvSpPr txBox="1"/>
          <p:nvPr/>
        </p:nvSpPr>
        <p:spPr>
          <a:xfrm>
            <a:off x="1210403" y="4257948"/>
            <a:ext cx="77341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Compact clinical cohort → matched omics cohorts → variance / missingness filtering → model-ready expression, methylation, and </a:t>
            </a:r>
            <a:r>
              <a:rPr lang="en-US" sz="1100" dirty="0" err="1">
                <a:solidFill>
                  <a:schemeClr val="bg1">
                    <a:lumMod val="85000"/>
                  </a:schemeClr>
                </a:solidFill>
              </a:rPr>
              <a:t>multiomic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 matrices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2E46722-97E8-D78C-52D9-3074B1867F8D}"/>
              </a:ext>
            </a:extLst>
          </p:cNvPr>
          <p:cNvSpPr/>
          <p:nvPr/>
        </p:nvSpPr>
        <p:spPr>
          <a:xfrm>
            <a:off x="502919" y="3989361"/>
            <a:ext cx="707484" cy="726062"/>
          </a:xfrm>
          <a:prstGeom prst="ellipse">
            <a:avLst/>
          </a:prstGeom>
          <a:noFill/>
          <a:ln>
            <a:solidFill>
              <a:srgbClr val="00D4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Graphic 69" descr="Filter outline">
            <a:extLst>
              <a:ext uri="{FF2B5EF4-FFF2-40B4-BE49-F238E27FC236}">
                <a16:creationId xmlns:a16="http://schemas.microsoft.com/office/drawing/2014/main" id="{3D17B9B4-911E-5D56-98DA-5B1BE0CDE7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0325" y="4106154"/>
            <a:ext cx="528644" cy="528644"/>
          </a:xfrm>
          <a:prstGeom prst="rect">
            <a:avLst/>
          </a:prstGeom>
        </p:spPr>
      </p:pic>
      <p:sp>
        <p:nvSpPr>
          <p:cNvPr id="71" name="Oval 70">
            <a:extLst>
              <a:ext uri="{FF2B5EF4-FFF2-40B4-BE49-F238E27FC236}">
                <a16:creationId xmlns:a16="http://schemas.microsoft.com/office/drawing/2014/main" id="{2D205906-48E2-533B-8637-8324F9C2F1CA}"/>
              </a:ext>
            </a:extLst>
          </p:cNvPr>
          <p:cNvSpPr/>
          <p:nvPr/>
        </p:nvSpPr>
        <p:spPr>
          <a:xfrm>
            <a:off x="709177" y="4069191"/>
            <a:ext cx="81457" cy="806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E58DBC2-AD59-A109-EA53-47C5F313C290}"/>
              </a:ext>
            </a:extLst>
          </p:cNvPr>
          <p:cNvSpPr/>
          <p:nvPr/>
        </p:nvSpPr>
        <p:spPr>
          <a:xfrm>
            <a:off x="820110" y="4032816"/>
            <a:ext cx="81457" cy="806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0D8AC3B-10CA-22A1-52F7-4229A9F84AB1}"/>
              </a:ext>
            </a:extLst>
          </p:cNvPr>
          <p:cNvSpPr/>
          <p:nvPr/>
        </p:nvSpPr>
        <p:spPr>
          <a:xfrm>
            <a:off x="908770" y="4068212"/>
            <a:ext cx="81457" cy="806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0681FBB-F2EC-0229-A175-2C64D0D0CA27}"/>
              </a:ext>
            </a:extLst>
          </p:cNvPr>
          <p:cNvCxnSpPr>
            <a:cxnSpLocks/>
          </p:cNvCxnSpPr>
          <p:nvPr/>
        </p:nvCxnSpPr>
        <p:spPr>
          <a:xfrm>
            <a:off x="860773" y="4094530"/>
            <a:ext cx="0" cy="8895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4A6C21F-BE19-3061-3991-0256BECDCEDA}"/>
              </a:ext>
            </a:extLst>
          </p:cNvPr>
          <p:cNvCxnSpPr>
            <a:cxnSpLocks/>
          </p:cNvCxnSpPr>
          <p:nvPr/>
        </p:nvCxnSpPr>
        <p:spPr>
          <a:xfrm>
            <a:off x="863948" y="4550627"/>
            <a:ext cx="0" cy="135853"/>
          </a:xfrm>
          <a:prstGeom prst="straightConnector1">
            <a:avLst/>
          </a:prstGeom>
          <a:ln w="6350" cap="flat">
            <a:prstDash val="dash"/>
            <a:headEnd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Alternative Process 87">
            <a:extLst>
              <a:ext uri="{FF2B5EF4-FFF2-40B4-BE49-F238E27FC236}">
                <a16:creationId xmlns:a16="http://schemas.microsoft.com/office/drawing/2014/main" id="{0710ABA3-8CC5-9F53-81FF-DD63D7E6E187}"/>
              </a:ext>
            </a:extLst>
          </p:cNvPr>
          <p:cNvSpPr/>
          <p:nvPr/>
        </p:nvSpPr>
        <p:spPr>
          <a:xfrm>
            <a:off x="457200" y="3941683"/>
            <a:ext cx="8371087" cy="812982"/>
          </a:xfrm>
          <a:prstGeom prst="flowChartAlternateProcess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01F8878-1C78-838D-E029-1553C79FFC79}"/>
              </a:ext>
            </a:extLst>
          </p:cNvPr>
          <p:cNvSpPr/>
          <p:nvPr/>
        </p:nvSpPr>
        <p:spPr>
          <a:xfrm>
            <a:off x="1181016" y="4042541"/>
            <a:ext cx="2844062" cy="2012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FEATURE-SET LOGIC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DB1179-368A-74FE-EB60-33CECDD195AE}"/>
              </a:ext>
            </a:extLst>
          </p:cNvPr>
          <p:cNvSpPr txBox="1"/>
          <p:nvPr/>
        </p:nvSpPr>
        <p:spPr>
          <a:xfrm>
            <a:off x="891368" y="3346791"/>
            <a:ext cx="8178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Raw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F1A563-8EDC-3D84-4D97-40C0449340AD}"/>
              </a:ext>
            </a:extLst>
          </p:cNvPr>
          <p:cNvSpPr txBox="1"/>
          <p:nvPr/>
        </p:nvSpPr>
        <p:spPr>
          <a:xfrm>
            <a:off x="2014528" y="3346791"/>
            <a:ext cx="784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Retained Features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9C5E0F-7AF9-47FA-AF7B-354FD4609385}"/>
              </a:ext>
            </a:extLst>
          </p:cNvPr>
          <p:cNvSpPr txBox="1"/>
          <p:nvPr/>
        </p:nvSpPr>
        <p:spPr>
          <a:xfrm>
            <a:off x="3733147" y="3345414"/>
            <a:ext cx="8178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Raw Features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860938-F8F6-24CC-06BA-449A11EB9FA0}"/>
              </a:ext>
            </a:extLst>
          </p:cNvPr>
          <p:cNvSpPr txBox="1"/>
          <p:nvPr/>
        </p:nvSpPr>
        <p:spPr>
          <a:xfrm>
            <a:off x="4846359" y="3345414"/>
            <a:ext cx="784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Retained Features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859C98-804D-39A7-2537-F83C5EBAF473}"/>
              </a:ext>
            </a:extLst>
          </p:cNvPr>
          <p:cNvSpPr txBox="1"/>
          <p:nvPr/>
        </p:nvSpPr>
        <p:spPr>
          <a:xfrm>
            <a:off x="7968984" y="3329586"/>
            <a:ext cx="784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Retained Features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A5F675-4E4A-EA57-ED79-ABE5067769E7}"/>
              </a:ext>
            </a:extLst>
          </p:cNvPr>
          <p:cNvSpPr txBox="1"/>
          <p:nvPr/>
        </p:nvSpPr>
        <p:spPr>
          <a:xfrm>
            <a:off x="6359782" y="3317072"/>
            <a:ext cx="784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Top Genes (Expression)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362AD2-6ADB-9298-DAEB-8DF51B115542}"/>
              </a:ext>
            </a:extLst>
          </p:cNvPr>
          <p:cNvSpPr txBox="1"/>
          <p:nvPr/>
        </p:nvSpPr>
        <p:spPr>
          <a:xfrm>
            <a:off x="7158292" y="3322232"/>
            <a:ext cx="8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Top Genes (Methylation)</a:t>
            </a:r>
          </a:p>
        </p:txBody>
      </p:sp>
    </p:spTree>
    <p:extLst>
      <p:ext uri="{BB962C8B-B14F-4D97-AF65-F5344CB8AC3E}">
        <p14:creationId xmlns:p14="http://schemas.microsoft.com/office/powerpoint/2010/main" val="1146136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1">
            <a:extLst>
              <a:ext uri="{FF2B5EF4-FFF2-40B4-BE49-F238E27FC236}">
                <a16:creationId xmlns:a16="http://schemas.microsoft.com/office/drawing/2014/main" id="{8B880A23-5259-4B67-35B7-9FF8248A70C8}"/>
              </a:ext>
            </a:extLst>
          </p:cNvPr>
          <p:cNvSpPr/>
          <p:nvPr/>
        </p:nvSpPr>
        <p:spPr>
          <a:xfrm>
            <a:off x="457200" y="4069080"/>
            <a:ext cx="8229600" cy="827324"/>
          </a:xfrm>
          <a:prstGeom prst="roundRect">
            <a:avLst/>
          </a:prstGeom>
          <a:solidFill>
            <a:srgbClr val="F5A623">
              <a:alpha val="12000"/>
            </a:srgbClr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STRATEGY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Algorithms · Three Predictor Sets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640080" cy="228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2606040"/>
          </a:xfrm>
          <a:prstGeom prst="rect">
            <a:avLst/>
          </a:prstGeom>
          <a:solidFill>
            <a:srgbClr val="131829"/>
          </a:solidFill>
          <a:ln w="9525">
            <a:solidFill>
              <a:srgbClr val="00D4C8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5720" cy="260604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ELASTIC NET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5727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Penalised Logistic Regression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18105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L1 (Lasso) and L2 (Ridge) penalties for flexible shrinkage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31343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Well-suited for correlated predictors in high-dimensional settings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4610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Implicitly performs feature selection or diffuse shrinkage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331927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linear benchmark for genomic classification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931920" cy="2606040"/>
          </a:xfrm>
          <a:prstGeom prst="rect">
            <a:avLst/>
          </a:prstGeom>
          <a:solidFill>
            <a:srgbClr val="131829"/>
          </a:solidFill>
          <a:ln w="9525">
            <a:solidFill>
              <a:srgbClr val="00D4C8">
                <a:alpha val="5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45720" cy="260604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15727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Ensemble Classifier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19472" y="18105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nonlinear effects and interactions without pre-specification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231343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irrelevant features in high-dimensional (p &gt;&gt; n) settings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8163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variable importance scores linking predictions to biology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331927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nonlinear comparator for complex genomic applications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H="1">
            <a:off x="457200" y="4069080"/>
            <a:ext cx="128016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" y="408944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792" y="430682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repeated 5 times — selected over a fixed train/test split because the small cohort (&lt;86 patients) would make single-split estimates unstable. Tuning parameters selected by maximising cross-validated AUC (ROC). Class probabilities retained throughout.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PERFORMANCE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 Across Omics Settings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640080" cy="228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537825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overall: </a:t>
            </a:r>
            <a:r>
              <a:rPr lang="en-US" sz="1000" i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Multiomic</a:t>
            </a: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RF achieved the highest AUC = 0.756; methylation RF was the strongest single-omics model with AUC = 0.747.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99945-FECE-E222-9FA1-6A147FE92586}"/>
              </a:ext>
            </a:extLst>
          </p:cNvPr>
          <p:cNvSpPr txBox="1"/>
          <p:nvPr/>
        </p:nvSpPr>
        <p:spPr>
          <a:xfrm>
            <a:off x="511948" y="1635020"/>
            <a:ext cx="21044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Multiomic</a:t>
            </a:r>
            <a:r>
              <a:rPr lang="en-US" sz="1200" dirty="0">
                <a:latin typeface="Calibri" charset="0"/>
                <a:ea typeface="Calibri" pitchFamily="34" charset="-122"/>
                <a:cs typeface="Calibri" charset="0"/>
              </a:rPr>
              <a:t> </a:t>
            </a:r>
            <a:r>
              <a:rPr lang="en-US" sz="1200" b="1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★</a:t>
            </a:r>
            <a:endParaRPr lang="en-US" sz="1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786EF-56E1-B460-BC9A-A4A2725D97F7}"/>
              </a:ext>
            </a:extLst>
          </p:cNvPr>
          <p:cNvSpPr txBox="1"/>
          <p:nvPr/>
        </p:nvSpPr>
        <p:spPr>
          <a:xfrm>
            <a:off x="511948" y="2059773"/>
            <a:ext cx="21591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</a:t>
            </a:r>
            <a:r>
              <a:rPr lang="en-US" sz="1200" b="1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★</a:t>
            </a:r>
            <a:endParaRPr lang="en-US" sz="1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09945C-9CD5-E23E-FF3D-41E6A91CDA33}"/>
              </a:ext>
            </a:extLst>
          </p:cNvPr>
          <p:cNvSpPr txBox="1"/>
          <p:nvPr/>
        </p:nvSpPr>
        <p:spPr>
          <a:xfrm>
            <a:off x="539024" y="2487658"/>
            <a:ext cx="21591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Elastic Net</a:t>
            </a:r>
            <a:endParaRPr lang="en-US" sz="1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0D961E-2F3C-1E7C-6BF7-619FA0E7936E}"/>
              </a:ext>
            </a:extLst>
          </p:cNvPr>
          <p:cNvSpPr txBox="1"/>
          <p:nvPr/>
        </p:nvSpPr>
        <p:spPr>
          <a:xfrm>
            <a:off x="548637" y="2906484"/>
            <a:ext cx="19669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Multiomic</a:t>
            </a: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Elastic Net</a:t>
            </a:r>
            <a:endParaRPr lang="en-US" sz="1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FD3063-7847-7C82-9AB0-683F2870EC10}"/>
              </a:ext>
            </a:extLst>
          </p:cNvPr>
          <p:cNvSpPr txBox="1"/>
          <p:nvPr/>
        </p:nvSpPr>
        <p:spPr>
          <a:xfrm>
            <a:off x="539024" y="3316833"/>
            <a:ext cx="1966913" cy="276999"/>
          </a:xfrm>
          <a:prstGeom prst="rect">
            <a:avLst/>
          </a:prstGeom>
          <a:solidFill>
            <a:srgbClr val="11161F"/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Random Forest</a:t>
            </a:r>
            <a:endParaRPr lang="en-US" sz="1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D9A8E1-C78D-6A2F-5E0C-09676153C3BA}"/>
              </a:ext>
            </a:extLst>
          </p:cNvPr>
          <p:cNvSpPr txBox="1"/>
          <p:nvPr/>
        </p:nvSpPr>
        <p:spPr>
          <a:xfrm>
            <a:off x="539022" y="3743764"/>
            <a:ext cx="19669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Elastic Net</a:t>
            </a:r>
            <a:endParaRPr lang="en-US" sz="1200" dirty="0">
              <a:latin typeface="Calibri" charset="0"/>
              <a:ea typeface="Calibri" charset="0"/>
              <a:cs typeface="Calibri" charset="0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80B89D3-201B-5ED7-C3E8-45059B238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451009"/>
              </p:ext>
            </p:extLst>
          </p:nvPr>
        </p:nvGraphicFramePr>
        <p:xfrm>
          <a:off x="5757529" y="1228281"/>
          <a:ext cx="2959000" cy="2863734"/>
        </p:xfrm>
        <a:graphic>
          <a:graphicData uri="http://schemas.openxmlformats.org/drawingml/2006/table">
            <a:tbl>
              <a:tblPr/>
              <a:tblGrid>
                <a:gridCol w="1507369">
                  <a:extLst>
                    <a:ext uri="{9D8B030D-6E8A-4147-A177-3AD203B41FA5}">
                      <a16:colId xmlns:a16="http://schemas.microsoft.com/office/drawing/2014/main" val="4173089158"/>
                    </a:ext>
                  </a:extLst>
                </a:gridCol>
                <a:gridCol w="1451631">
                  <a:extLst>
                    <a:ext uri="{9D8B030D-6E8A-4147-A177-3AD203B41FA5}">
                      <a16:colId xmlns:a16="http://schemas.microsoft.com/office/drawing/2014/main" val="3510047616"/>
                    </a:ext>
                  </a:extLst>
                </a:gridCol>
              </a:tblGrid>
              <a:tr h="370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kern="0" spc="150" dirty="0">
                          <a:solidFill>
                            <a:srgbClr val="00D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kern="0" spc="150" dirty="0">
                          <a:solidFill>
                            <a:srgbClr val="00D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258120"/>
                  </a:ext>
                </a:extLst>
              </a:tr>
              <a:tr h="411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1F9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0.629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1F9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0.748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798955"/>
                  </a:ext>
                </a:extLst>
              </a:tr>
              <a:tr h="411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1F9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0.644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1F9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0.720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862693"/>
                  </a:ext>
                </a:extLst>
              </a:tr>
              <a:tr h="411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CED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0.654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CED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032509"/>
                  </a:ext>
                </a:extLst>
              </a:tr>
              <a:tr h="411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CED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0.656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CED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0.641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338459"/>
                  </a:ext>
                </a:extLst>
              </a:tr>
              <a:tr h="411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CED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0.630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CED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0.696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346297"/>
                  </a:ext>
                </a:extLst>
              </a:tr>
              <a:tr h="411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CED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CED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0.753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254641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40212271-9832-4197-3224-4B5AC335C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3174"/>
            <a:ext cx="4779507" cy="13613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A917432-8A80-E459-14AE-A3D6B3B5B323}"/>
              </a:ext>
            </a:extLst>
          </p:cNvPr>
          <p:cNvSpPr txBox="1"/>
          <p:nvPr/>
        </p:nvSpPr>
        <p:spPr>
          <a:xfrm>
            <a:off x="4860000" y="1647639"/>
            <a:ext cx="5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0.756</a:t>
            </a:r>
            <a:endParaRPr lang="en-US" sz="12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5389FA4-DB29-C306-441F-FC37207C8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39" y="2264861"/>
            <a:ext cx="4779507" cy="14327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A39606B-5388-5374-62C1-11402EBE8BB5}"/>
              </a:ext>
            </a:extLst>
          </p:cNvPr>
          <p:cNvSpPr txBox="1"/>
          <p:nvPr/>
        </p:nvSpPr>
        <p:spPr>
          <a:xfrm>
            <a:off x="4860000" y="2054057"/>
            <a:ext cx="5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0.747</a:t>
            </a:r>
            <a:endParaRPr lang="en-US" sz="12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BAF8BCE-7D9B-ED23-E8A5-FDAC242EDF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024" y="3958028"/>
            <a:ext cx="4779506" cy="1325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3125907-CE2E-FF0F-19D6-582CDBF48E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026" y="3528453"/>
            <a:ext cx="4779506" cy="13970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4FD2258-0DE9-24E8-41C2-DC61A5B01A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024" y="3113645"/>
            <a:ext cx="4779506" cy="13592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ADB5E7F-B40B-B6AD-A167-E5026B4319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025" y="2695186"/>
            <a:ext cx="4779506" cy="13613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46A4C56-92CD-AC21-762A-CE9E4324C82D}"/>
              </a:ext>
            </a:extLst>
          </p:cNvPr>
          <p:cNvSpPr txBox="1"/>
          <p:nvPr/>
        </p:nvSpPr>
        <p:spPr>
          <a:xfrm>
            <a:off x="4860000" y="2455823"/>
            <a:ext cx="5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0.731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0D7A92-EBCA-8090-58C0-C62F7E84CE2C}"/>
              </a:ext>
            </a:extLst>
          </p:cNvPr>
          <p:cNvSpPr txBox="1"/>
          <p:nvPr/>
        </p:nvSpPr>
        <p:spPr>
          <a:xfrm>
            <a:off x="4858321" y="2883941"/>
            <a:ext cx="5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0.729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958765-16E6-0BB0-7FD4-46A85B45B22C}"/>
              </a:ext>
            </a:extLst>
          </p:cNvPr>
          <p:cNvSpPr txBox="1"/>
          <p:nvPr/>
        </p:nvSpPr>
        <p:spPr>
          <a:xfrm>
            <a:off x="4858321" y="3292788"/>
            <a:ext cx="5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0.722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FE601D-D1EA-0C84-B846-616D4BAF93D4}"/>
              </a:ext>
            </a:extLst>
          </p:cNvPr>
          <p:cNvSpPr txBox="1"/>
          <p:nvPr/>
        </p:nvSpPr>
        <p:spPr>
          <a:xfrm>
            <a:off x="4858321" y="3741281"/>
            <a:ext cx="5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0.717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4A99EA5-9BBE-1CF5-53A0-1B8BF6921B46}"/>
              </a:ext>
            </a:extLst>
          </p:cNvPr>
          <p:cNvSpPr/>
          <p:nvPr/>
        </p:nvSpPr>
        <p:spPr>
          <a:xfrm>
            <a:off x="380508" y="1225297"/>
            <a:ext cx="5198882" cy="3222718"/>
          </a:xfrm>
          <a:prstGeom prst="roundRect">
            <a:avLst/>
          </a:prstGeom>
          <a:noFill/>
          <a:ln>
            <a:solidFill>
              <a:srgbClr val="00D4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5BC0EB-042B-E496-F971-1BC4059E0FEF}"/>
              </a:ext>
            </a:extLst>
          </p:cNvPr>
          <p:cNvSpPr txBox="1"/>
          <p:nvPr/>
        </p:nvSpPr>
        <p:spPr>
          <a:xfrm>
            <a:off x="738782" y="1278860"/>
            <a:ext cx="4579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spc="1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COMPARISON</a:t>
            </a:r>
            <a:endParaRPr lang="en-US" dirty="0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AF160CA-974C-FA5A-8294-9D098A8630FC}"/>
              </a:ext>
            </a:extLst>
          </p:cNvPr>
          <p:cNvSpPr/>
          <p:nvPr/>
        </p:nvSpPr>
        <p:spPr>
          <a:xfrm>
            <a:off x="5589003" y="1219964"/>
            <a:ext cx="3296052" cy="3222718"/>
          </a:xfrm>
          <a:prstGeom prst="roundRect">
            <a:avLst/>
          </a:prstGeom>
          <a:noFill/>
          <a:ln>
            <a:solidFill>
              <a:srgbClr val="00D4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1">
            <a:extLst>
              <a:ext uri="{FF2B5EF4-FFF2-40B4-BE49-F238E27FC236}">
                <a16:creationId xmlns:a16="http://schemas.microsoft.com/office/drawing/2014/main" id="{8DC867DF-65F6-1451-1FFB-736420A7F27E}"/>
              </a:ext>
            </a:extLst>
          </p:cNvPr>
          <p:cNvSpPr/>
          <p:nvPr/>
        </p:nvSpPr>
        <p:spPr>
          <a:xfrm>
            <a:off x="4875767" y="1236728"/>
            <a:ext cx="4085353" cy="3723892"/>
          </a:xfrm>
          <a:prstGeom prst="roundRect">
            <a:avLst/>
          </a:prstGeom>
          <a:solidFill>
            <a:srgbClr val="192530">
              <a:alpha val="12000"/>
            </a:srgbClr>
          </a:solidFill>
          <a:ln w="28575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729788FB-40E3-9CBE-8692-89B86AE7126D}"/>
              </a:ext>
            </a:extLst>
          </p:cNvPr>
          <p:cNvSpPr/>
          <p:nvPr/>
        </p:nvSpPr>
        <p:spPr>
          <a:xfrm>
            <a:off x="548640" y="3745726"/>
            <a:ext cx="4085353" cy="1283474"/>
          </a:xfrm>
          <a:prstGeom prst="roundRect">
            <a:avLst/>
          </a:prstGeom>
          <a:solidFill>
            <a:srgbClr val="F5A623">
              <a:alpha val="12000"/>
            </a:srgbClr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analysis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640080" cy="228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-331147" y="1380948"/>
            <a:ext cx="10321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D4C8">
                    <a:alpha val="4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1271016"/>
            <a:ext cx="4023360" cy="10972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271016"/>
            <a:ext cx="45719" cy="10972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" y="1563624"/>
            <a:ext cx="386673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82597"/>
            <a:ext cx="4023360" cy="10972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2482597"/>
            <a:ext cx="45719" cy="10972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" y="2775205"/>
            <a:ext cx="386673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2C31FB0-F136-2331-0A3C-8A0AE3916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670797"/>
              </p:ext>
            </p:extLst>
          </p:nvPr>
        </p:nvGraphicFramePr>
        <p:xfrm>
          <a:off x="5074920" y="1380948"/>
          <a:ext cx="3800574" cy="3270512"/>
        </p:xfrm>
        <a:graphic>
          <a:graphicData uri="http://schemas.openxmlformats.org/drawingml/2006/table">
            <a:tbl>
              <a:tblPr/>
              <a:tblGrid>
                <a:gridCol w="1266858">
                  <a:extLst>
                    <a:ext uri="{9D8B030D-6E8A-4147-A177-3AD203B41FA5}">
                      <a16:colId xmlns:a16="http://schemas.microsoft.com/office/drawing/2014/main" val="4113462881"/>
                    </a:ext>
                  </a:extLst>
                </a:gridCol>
                <a:gridCol w="958972">
                  <a:extLst>
                    <a:ext uri="{9D8B030D-6E8A-4147-A177-3AD203B41FA5}">
                      <a16:colId xmlns:a16="http://schemas.microsoft.com/office/drawing/2014/main" val="388279035"/>
                    </a:ext>
                  </a:extLst>
                </a:gridCol>
                <a:gridCol w="1574744">
                  <a:extLst>
                    <a:ext uri="{9D8B030D-6E8A-4147-A177-3AD203B41FA5}">
                      <a16:colId xmlns:a16="http://schemas.microsoft.com/office/drawing/2014/main" val="993983327"/>
                    </a:ext>
                  </a:extLst>
                </a:gridCol>
              </a:tblGrid>
              <a:tr h="3322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b="1" cap="all" dirty="0">
                          <a:solidFill>
                            <a:srgbClr val="5EEAD4"/>
                          </a:solidFill>
                          <a:effectLst/>
                        </a:rPr>
                        <a:t>Scenario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b="1" cap="all" dirty="0">
                          <a:solidFill>
                            <a:srgbClr val="5EEAD4"/>
                          </a:solidFill>
                          <a:effectLst/>
                        </a:rPr>
                        <a:t>AUC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b="1" cap="all" dirty="0">
                          <a:solidFill>
                            <a:srgbClr val="5EEAD4"/>
                          </a:solidFill>
                          <a:effectLst/>
                        </a:rPr>
                        <a:t>Note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386104"/>
                  </a:ext>
                </a:extLst>
              </a:tr>
              <a:tr h="694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1,500 probes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C8">
                        <a:alpha val="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0.755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C8">
                        <a:alpha val="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Highest sensitivity run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C8">
                        <a:alpha val="941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035477"/>
                  </a:ext>
                </a:extLst>
              </a:tr>
              <a:tr h="694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2,000 probes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0.749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Final tuned methylation RF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738070"/>
                  </a:ext>
                </a:extLst>
              </a:tr>
              <a:tr h="513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2,500 probes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0.741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Slightly lower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101544"/>
                  </a:ext>
                </a:extLst>
              </a:tr>
              <a:tr h="513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3×5 CV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0.734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Alternative resampling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288851"/>
                  </a:ext>
                </a:extLst>
              </a:tr>
              <a:tr h="513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10×3 CV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0.728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200" dirty="0">
                          <a:solidFill>
                            <a:schemeClr val="bg1"/>
                          </a:solidFill>
                          <a:effectLst/>
                        </a:rPr>
                        <a:t>Alternative resampling</a:t>
                      </a:r>
                    </a:p>
                  </a:txBody>
                  <a:tcPr marL="88103" marR="88103" marT="75516" marB="7551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>
                          <a:alpha val="5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560280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E08BF0B9-E97B-36F9-66CB-1AAF682ECEF5}"/>
              </a:ext>
            </a:extLst>
          </p:cNvPr>
          <p:cNvSpPr txBox="1"/>
          <p:nvPr/>
        </p:nvSpPr>
        <p:spPr>
          <a:xfrm>
            <a:off x="571499" y="3805345"/>
            <a:ext cx="40225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i="0" dirty="0">
                <a:solidFill>
                  <a:srgbClr val="F8FAFC"/>
                </a:solidFill>
                <a:effectLst/>
                <a:latin typeface="Inter"/>
              </a:rPr>
              <a:t>Interpretation</a:t>
            </a:r>
            <a:endParaRPr lang="en-AU" sz="1400" dirty="0"/>
          </a:p>
          <a:p>
            <a:pPr algn="l">
              <a:buNone/>
            </a:pPr>
            <a:r>
              <a:rPr lang="en-AU" sz="1400" b="0" i="0" dirty="0">
                <a:solidFill>
                  <a:srgbClr val="A9B6D3"/>
                </a:solidFill>
                <a:effectLst/>
                <a:latin typeface="Inter"/>
              </a:rPr>
              <a:t>Performance was not driven by one arbitrary feature-count choice, although smaller feature sets sometimes improved stability.</a:t>
            </a: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69BA4842-BDEF-A7C4-6961-91FEBC5B4A9D}"/>
              </a:ext>
            </a:extLst>
          </p:cNvPr>
          <p:cNvSpPr/>
          <p:nvPr/>
        </p:nvSpPr>
        <p:spPr>
          <a:xfrm>
            <a:off x="-113006" y="1470412"/>
            <a:ext cx="10321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D4C8">
                    <a:alpha val="45000"/>
                  </a:srgbClr>
                </a:solidFill>
                <a:latin typeface="Georgia" pitchFamily="34" charset="0"/>
              </a:rPr>
              <a:t>1</a:t>
            </a:r>
            <a:endParaRPr lang="en-US" sz="36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7B443D84-EADF-A779-D26E-39C5165B6EB5}"/>
              </a:ext>
            </a:extLst>
          </p:cNvPr>
          <p:cNvSpPr/>
          <p:nvPr/>
        </p:nvSpPr>
        <p:spPr>
          <a:xfrm>
            <a:off x="-331147" y="2647189"/>
            <a:ext cx="10321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D4C8">
                    <a:alpha val="4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FFF34B30-06D6-64EE-E292-16C1582B6913}"/>
              </a:ext>
            </a:extLst>
          </p:cNvPr>
          <p:cNvSpPr/>
          <p:nvPr/>
        </p:nvSpPr>
        <p:spPr>
          <a:xfrm>
            <a:off x="-113006" y="2748534"/>
            <a:ext cx="10321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D4C8">
                    <a:alpha val="45000"/>
                  </a:srgbClr>
                </a:solidFill>
                <a:latin typeface="Georgia" pitchFamily="34" charset="0"/>
              </a:rPr>
              <a:t>2</a:t>
            </a:r>
            <a:endParaRPr lang="en-US" sz="3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C4C7E5-A6BA-7936-8E9B-B7C301661545}"/>
              </a:ext>
            </a:extLst>
          </p:cNvPr>
          <p:cNvSpPr txBox="1"/>
          <p:nvPr/>
        </p:nvSpPr>
        <p:spPr>
          <a:xfrm>
            <a:off x="594359" y="1427077"/>
            <a:ext cx="39633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0" i="0" dirty="0">
                <a:solidFill>
                  <a:srgbClr val="DBE6FF"/>
                </a:solidFill>
                <a:effectLst/>
                <a:latin typeface="Inter"/>
              </a:rPr>
              <a:t>Methylation </a:t>
            </a:r>
            <a:r>
              <a:rPr lang="en-AU" sz="1600" dirty="0">
                <a:solidFill>
                  <a:srgbClr val="DBE6FF"/>
                </a:solidFill>
                <a:latin typeface="Inter"/>
              </a:rPr>
              <a:t>RF </a:t>
            </a:r>
            <a:r>
              <a:rPr lang="en-AU" sz="1600" b="0" i="0" dirty="0">
                <a:solidFill>
                  <a:srgbClr val="DBE6FF"/>
                </a:solidFill>
                <a:effectLst/>
                <a:latin typeface="Inter"/>
              </a:rPr>
              <a:t>performance remained in the low-to-mid 0.70 AUC range across feature counts and cross-validation designs.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9A858E-DD52-6E51-CCFB-334A1976445C}"/>
              </a:ext>
            </a:extLst>
          </p:cNvPr>
          <p:cNvSpPr txBox="1"/>
          <p:nvPr/>
        </p:nvSpPr>
        <p:spPr>
          <a:xfrm>
            <a:off x="594359" y="2712487"/>
            <a:ext cx="39776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0" i="0" dirty="0">
                <a:solidFill>
                  <a:srgbClr val="DBE6FF"/>
                </a:solidFill>
                <a:effectLst/>
                <a:latin typeface="Inter"/>
              </a:rPr>
              <a:t>A smaller methylation feature set may reduce noise and improve stability.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24E3A-D433-A2ED-9CAC-103CB9667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21">
            <a:extLst>
              <a:ext uri="{FF2B5EF4-FFF2-40B4-BE49-F238E27FC236}">
                <a16:creationId xmlns:a16="http://schemas.microsoft.com/office/drawing/2014/main" id="{5FC95FD4-B7E8-B0AF-7E2F-3EC6025E0D72}"/>
              </a:ext>
            </a:extLst>
          </p:cNvPr>
          <p:cNvSpPr/>
          <p:nvPr/>
        </p:nvSpPr>
        <p:spPr>
          <a:xfrm>
            <a:off x="5295354" y="3253197"/>
            <a:ext cx="3665765" cy="1453480"/>
          </a:xfrm>
          <a:prstGeom prst="roundRect">
            <a:avLst/>
          </a:prstGeom>
          <a:solidFill>
            <a:srgbClr val="F5A623">
              <a:alpha val="12000"/>
            </a:srgbClr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22126B1-0254-3206-BDF3-F2AAE414E257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E0654E-5C19-A531-42CA-FCC6E269F88A}"/>
              </a:ext>
            </a:extLst>
          </p:cNvPr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C0C95C-C15A-6879-4114-84B283994766}"/>
              </a:ext>
            </a:extLst>
          </p:cNvPr>
          <p:cNvSpPr/>
          <p:nvPr/>
        </p:nvSpPr>
        <p:spPr>
          <a:xfrm>
            <a:off x="54864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INTERPRETABILITY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1281D6-E4B4-3726-03FF-3D4CC56B6DC2}"/>
              </a:ext>
            </a:extLst>
          </p:cNvPr>
          <p:cNvSpPr/>
          <p:nvPr/>
        </p:nvSpPr>
        <p:spPr>
          <a:xfrm>
            <a:off x="548640" y="3840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Methylation Features Mapped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8F01FFB-2D46-40BC-DDE7-B805B1076821}"/>
              </a:ext>
            </a:extLst>
          </p:cNvPr>
          <p:cNvSpPr/>
          <p:nvPr/>
        </p:nvSpPr>
        <p:spPr>
          <a:xfrm>
            <a:off x="548640" y="1097280"/>
            <a:ext cx="640080" cy="228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CABDEA7-F62E-2EC7-39C5-20CDBB153CCE}"/>
              </a:ext>
            </a:extLst>
          </p:cNvPr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1B7AE31-5D24-7793-2AF2-BB112D325E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925"/>
          <a:stretch>
            <a:fillRect/>
          </a:stretch>
        </p:blipFill>
        <p:spPr>
          <a:xfrm>
            <a:off x="211755" y="1505150"/>
            <a:ext cx="5638299" cy="308509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3C85DD3-5783-E02F-315E-85A155EA58E4}"/>
              </a:ext>
            </a:extLst>
          </p:cNvPr>
          <p:cNvSpPr txBox="1"/>
          <p:nvPr/>
        </p:nvSpPr>
        <p:spPr>
          <a:xfrm>
            <a:off x="868680" y="1231830"/>
            <a:ext cx="4581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Random Forest Variable Importance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7C6918-EDD6-7689-FB92-748A8DD82B26}"/>
              </a:ext>
            </a:extLst>
          </p:cNvPr>
          <p:cNvSpPr txBox="1"/>
          <p:nvPr/>
        </p:nvSpPr>
        <p:spPr>
          <a:xfrm>
            <a:off x="17524" y="1505150"/>
            <a:ext cx="902811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cg12186771</a:t>
            </a:r>
          </a:p>
          <a:p>
            <a:pPr algn="r"/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cg04552451</a:t>
            </a:r>
          </a:p>
          <a:p>
            <a:pPr algn="r"/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cg19872463</a:t>
            </a:r>
          </a:p>
          <a:p>
            <a:pPr algn="r"/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cg09884146</a:t>
            </a:r>
          </a:p>
          <a:p>
            <a:pPr algn="r"/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cg01268824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373E1EE-872A-69E8-C205-48AE9EABCDB0}"/>
              </a:ext>
            </a:extLst>
          </p:cNvPr>
          <p:cNvSpPr/>
          <p:nvPr/>
        </p:nvSpPr>
        <p:spPr>
          <a:xfrm>
            <a:off x="5295355" y="1451759"/>
            <a:ext cx="1289785" cy="773184"/>
          </a:xfrm>
          <a:prstGeom prst="roundRect">
            <a:avLst/>
          </a:prstGeom>
          <a:noFill/>
          <a:ln>
            <a:solidFill>
              <a:srgbClr val="077F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6068AD0-FCBF-CE48-D6AC-90180CF8159C}"/>
              </a:ext>
            </a:extLst>
          </p:cNvPr>
          <p:cNvSpPr/>
          <p:nvPr/>
        </p:nvSpPr>
        <p:spPr>
          <a:xfrm>
            <a:off x="7605498" y="2333238"/>
            <a:ext cx="1440912" cy="773184"/>
          </a:xfrm>
          <a:prstGeom prst="roundRect">
            <a:avLst/>
          </a:prstGeom>
          <a:noFill/>
          <a:ln>
            <a:solidFill>
              <a:srgbClr val="077F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FEA9073-7A05-3E3A-DB45-275770C7220D}"/>
              </a:ext>
            </a:extLst>
          </p:cNvPr>
          <p:cNvSpPr/>
          <p:nvPr/>
        </p:nvSpPr>
        <p:spPr>
          <a:xfrm>
            <a:off x="6701210" y="1447774"/>
            <a:ext cx="2314784" cy="773184"/>
          </a:xfrm>
          <a:prstGeom prst="roundRect">
            <a:avLst/>
          </a:prstGeom>
          <a:noFill/>
          <a:ln>
            <a:solidFill>
              <a:srgbClr val="077F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FE4F18C-3F90-BA4C-C726-4D636D63CC86}"/>
              </a:ext>
            </a:extLst>
          </p:cNvPr>
          <p:cNvSpPr/>
          <p:nvPr/>
        </p:nvSpPr>
        <p:spPr>
          <a:xfrm>
            <a:off x="5325770" y="2324704"/>
            <a:ext cx="2141257" cy="773184"/>
          </a:xfrm>
          <a:prstGeom prst="roundRect">
            <a:avLst/>
          </a:prstGeom>
          <a:noFill/>
          <a:ln>
            <a:solidFill>
              <a:srgbClr val="077F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82BBD2-8D9F-B61A-06D2-AD427E7073C7}"/>
              </a:ext>
            </a:extLst>
          </p:cNvPr>
          <p:cNvSpPr txBox="1"/>
          <p:nvPr/>
        </p:nvSpPr>
        <p:spPr>
          <a:xfrm>
            <a:off x="5379361" y="1539607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MTMR7</a:t>
            </a:r>
          </a:p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Gene body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A68838-5839-7872-4FE3-2B001D6B6AAB}"/>
              </a:ext>
            </a:extLst>
          </p:cNvPr>
          <p:cNvSpPr txBox="1"/>
          <p:nvPr/>
        </p:nvSpPr>
        <p:spPr>
          <a:xfrm>
            <a:off x="6858676" y="1543998"/>
            <a:ext cx="15318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LAG3</a:t>
            </a:r>
          </a:p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TSS200 - enhancer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273AB5-9260-2AB4-3EB1-D10FB55ABD9B}"/>
              </a:ext>
            </a:extLst>
          </p:cNvPr>
          <p:cNvSpPr txBox="1"/>
          <p:nvPr/>
        </p:nvSpPr>
        <p:spPr>
          <a:xfrm>
            <a:off x="7732790" y="2446920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ZNF154</a:t>
            </a:r>
          </a:p>
          <a:p>
            <a:r>
              <a:rPr lang="en-AU" sz="1400" dirty="0">
                <a:solidFill>
                  <a:schemeClr val="bg1">
                    <a:lumMod val="75000"/>
                  </a:schemeClr>
                </a:solidFill>
              </a:rPr>
              <a:t>TSS1500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38191B-199C-34FC-9D5B-DD51B63FDBCD}"/>
              </a:ext>
            </a:extLst>
          </p:cNvPr>
          <p:cNvSpPr txBox="1"/>
          <p:nvPr/>
        </p:nvSpPr>
        <p:spPr>
          <a:xfrm>
            <a:off x="5450304" y="2393582"/>
            <a:ext cx="1494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SPRED2</a:t>
            </a:r>
          </a:p>
          <a:p>
            <a:r>
              <a:rPr lang="en-AU" sz="1400" dirty="0">
                <a:solidFill>
                  <a:schemeClr val="bg1">
                    <a:lumMod val="75000"/>
                  </a:schemeClr>
                </a:solidFill>
              </a:rPr>
              <a:t>5′ UTR / enhancer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F6B7FD-3AA0-6790-CCEF-D04892A525DF}"/>
              </a:ext>
            </a:extLst>
          </p:cNvPr>
          <p:cNvSpPr txBox="1"/>
          <p:nvPr/>
        </p:nvSpPr>
        <p:spPr>
          <a:xfrm>
            <a:off x="5321669" y="3368735"/>
            <a:ext cx="36105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Several high-importance probes mapped to promoter-proximal or gene-associated regions.</a:t>
            </a:r>
          </a:p>
          <a:p>
            <a:endParaRPr lang="en-AU" sz="1400" dirty="0">
              <a:solidFill>
                <a:schemeClr val="bg1"/>
              </a:solidFill>
            </a:endParaRPr>
          </a:p>
          <a:p>
            <a:pPr algn="ctr"/>
            <a:r>
              <a:rPr lang="en-AU" sz="1400" dirty="0">
                <a:solidFill>
                  <a:schemeClr val="bg1"/>
                </a:solidFill>
              </a:rPr>
              <a:t>Supporting the biological plausibility of the methylation signal.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1975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4C87C-6ED2-0F24-36E3-D6DF1E41A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2C5AE7-367F-7E12-AB43-26DB3A149F82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2405EC-374C-3278-8B96-988EF961042C}"/>
              </a:ext>
            </a:extLst>
          </p:cNvPr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0A2889-BAB7-1B2C-7DDB-7DFC895A478B}"/>
              </a:ext>
            </a:extLst>
          </p:cNvPr>
          <p:cNvSpPr/>
          <p:nvPr/>
        </p:nvSpPr>
        <p:spPr>
          <a:xfrm>
            <a:off x="54864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9A3C34F-D929-DD3D-0467-7313F65B828C}"/>
              </a:ext>
            </a:extLst>
          </p:cNvPr>
          <p:cNvSpPr/>
          <p:nvPr/>
        </p:nvSpPr>
        <p:spPr>
          <a:xfrm>
            <a:off x="548640" y="3840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Central Conclusions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8BED98-334B-D0EA-1F86-BB7207541FC4}"/>
              </a:ext>
            </a:extLst>
          </p:cNvPr>
          <p:cNvSpPr/>
          <p:nvPr/>
        </p:nvSpPr>
        <p:spPr>
          <a:xfrm>
            <a:off x="548640" y="1097280"/>
            <a:ext cx="640080" cy="228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F604C09-33CE-B414-176C-B2E103EFD279}"/>
              </a:ext>
            </a:extLst>
          </p:cNvPr>
          <p:cNvSpPr/>
          <p:nvPr/>
        </p:nvSpPr>
        <p:spPr>
          <a:xfrm>
            <a:off x="1170432" y="1261872"/>
            <a:ext cx="7516368" cy="10972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FE05D11-4518-12F3-FCF8-B1C2B97AB79B}"/>
              </a:ext>
            </a:extLst>
          </p:cNvPr>
          <p:cNvSpPr/>
          <p:nvPr/>
        </p:nvSpPr>
        <p:spPr>
          <a:xfrm>
            <a:off x="1170432" y="1261872"/>
            <a:ext cx="45720" cy="10972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889DB2C-6BBD-00E5-4D80-ED4948D73C98}"/>
              </a:ext>
            </a:extLst>
          </p:cNvPr>
          <p:cNvSpPr/>
          <p:nvPr/>
        </p:nvSpPr>
        <p:spPr>
          <a:xfrm>
            <a:off x="1298448" y="1335024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IS THE STRONGEST SINGLE-OMICS SOURCE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6F0167C-59AA-DC05-9707-97CEBF59557F}"/>
              </a:ext>
            </a:extLst>
          </p:cNvPr>
          <p:cNvSpPr/>
          <p:nvPr/>
        </p:nvSpPr>
        <p:spPr>
          <a:xfrm>
            <a:off x="1298448" y="155448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AU" sz="1200" dirty="0">
                <a:solidFill>
                  <a:schemeClr val="bg1">
                    <a:lumMod val="85000"/>
                  </a:schemeClr>
                </a:solidFill>
              </a:rPr>
              <a:t>DNA methylation provided the strongest standalone prognostic signal. The methylation-only random forest achieved </a:t>
            </a:r>
            <a:r>
              <a:rPr lang="en-AU" sz="1200" b="1" dirty="0">
                <a:solidFill>
                  <a:schemeClr val="bg1">
                    <a:lumMod val="85000"/>
                  </a:schemeClr>
                </a:solidFill>
              </a:rPr>
              <a:t>AUC = 0.747</a:t>
            </a:r>
            <a:r>
              <a:rPr lang="en-AU" sz="1200" dirty="0">
                <a:solidFill>
                  <a:schemeClr val="bg1">
                    <a:lumMod val="85000"/>
                  </a:schemeClr>
                </a:solidFill>
              </a:rPr>
              <a:t>, outperforming both expression-based models. This aligns with prior literature identifying CpG methylation as a key axis of MPM tumour heterogeneity.</a:t>
            </a:r>
            <a:endParaRPr lang="en-US" sz="11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72AA573-679C-D3EB-775E-8741F22720EA}"/>
              </a:ext>
            </a:extLst>
          </p:cNvPr>
          <p:cNvSpPr/>
          <p:nvPr/>
        </p:nvSpPr>
        <p:spPr>
          <a:xfrm>
            <a:off x="1170432" y="2468880"/>
            <a:ext cx="7516368" cy="10972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E4250FF-6A41-CC1E-8629-3F6BBD144A58}"/>
              </a:ext>
            </a:extLst>
          </p:cNvPr>
          <p:cNvSpPr/>
          <p:nvPr/>
        </p:nvSpPr>
        <p:spPr>
          <a:xfrm>
            <a:off x="1170432" y="2468880"/>
            <a:ext cx="45720" cy="10972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C98589D-7283-A985-ED0A-75F86B86BF82}"/>
              </a:ext>
            </a:extLst>
          </p:cNvPr>
          <p:cNvSpPr/>
          <p:nvPr/>
        </p:nvSpPr>
        <p:spPr>
          <a:xfrm>
            <a:off x="1298448" y="2542032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OUTPERFORMS ELASTIC NET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A67401E-1B20-2CC0-F3BB-25BEEE6C697D}"/>
              </a:ext>
            </a:extLst>
          </p:cNvPr>
          <p:cNvSpPr/>
          <p:nvPr/>
        </p:nvSpPr>
        <p:spPr>
          <a:xfrm>
            <a:off x="1298448" y="276148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expression, methylation, and </a:t>
            </a:r>
            <a:r>
              <a:rPr lang="en-US" sz="1200" dirty="0" err="1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multiomic</a:t>
            </a: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settings, random forest models generally produced stronger discrimination than elastic net. This suggests that nonlinear relationships and interactions may be important in the molecular survival signal.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3EEA55F-BE1C-0E69-0EF4-B5420926926C}"/>
              </a:ext>
            </a:extLst>
          </p:cNvPr>
          <p:cNvSpPr/>
          <p:nvPr/>
        </p:nvSpPr>
        <p:spPr>
          <a:xfrm>
            <a:off x="1170432" y="3675888"/>
            <a:ext cx="7516368" cy="10972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F3471C6-231E-7B5B-6261-F9D35A7AB706}"/>
              </a:ext>
            </a:extLst>
          </p:cNvPr>
          <p:cNvSpPr/>
          <p:nvPr/>
        </p:nvSpPr>
        <p:spPr>
          <a:xfrm>
            <a:off x="1170432" y="3675888"/>
            <a:ext cx="45720" cy="10972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A2DC277-53CC-9965-7AE9-FDECFF69B2F5}"/>
              </a:ext>
            </a:extLst>
          </p:cNvPr>
          <p:cNvSpPr/>
          <p:nvPr/>
        </p:nvSpPr>
        <p:spPr>
          <a:xfrm>
            <a:off x="1298448" y="374904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MULTIOMIC INTEGRATION IMPROVES MODESTLY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B46317A-C3E6-335B-8018-92FD8A975139}"/>
              </a:ext>
            </a:extLst>
          </p:cNvPr>
          <p:cNvSpPr/>
          <p:nvPr/>
        </p:nvSpPr>
        <p:spPr>
          <a:xfrm>
            <a:off x="1298448" y="3968496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overall model was the </a:t>
            </a:r>
            <a:r>
              <a:rPr lang="en-US" sz="1200" b="1" dirty="0" err="1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multiomic</a:t>
            </a:r>
            <a:r>
              <a:rPr lang="en-US" sz="1200" b="1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 forest</a:t>
            </a: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AUC = 0.756. However, the improvement over methylation alone was modest, suggesting that methylation captured much of the dominant prognostic signal while combined omics added limited complementary information.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3E4A582-C43B-D74A-2C31-2A8ED58A1250}"/>
              </a:ext>
            </a:extLst>
          </p:cNvPr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F02080C5-5E9C-DEBB-ED9E-D9CA4384F021}"/>
              </a:ext>
            </a:extLst>
          </p:cNvPr>
          <p:cNvSpPr/>
          <p:nvPr/>
        </p:nvSpPr>
        <p:spPr>
          <a:xfrm>
            <a:off x="239059" y="1392852"/>
            <a:ext cx="10321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D4C8">
                    <a:alpha val="4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3808A744-1A25-AEFB-F0BC-B3B5959FA702}"/>
              </a:ext>
            </a:extLst>
          </p:cNvPr>
          <p:cNvSpPr/>
          <p:nvPr/>
        </p:nvSpPr>
        <p:spPr>
          <a:xfrm>
            <a:off x="457200" y="1482316"/>
            <a:ext cx="10321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D4C8">
                    <a:alpha val="45000"/>
                  </a:srgbClr>
                </a:solidFill>
                <a:latin typeface="Georgia" pitchFamily="34" charset="0"/>
              </a:rPr>
              <a:t>1</a:t>
            </a:r>
            <a:endParaRPr lang="en-US" sz="36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944902B2-E026-9017-ABB3-9E27793379ED}"/>
              </a:ext>
            </a:extLst>
          </p:cNvPr>
          <p:cNvSpPr/>
          <p:nvPr/>
        </p:nvSpPr>
        <p:spPr>
          <a:xfrm>
            <a:off x="219078" y="2605363"/>
            <a:ext cx="10321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D4C8">
                    <a:alpha val="4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378376E7-791B-A6C0-FF02-BDAD52ED8E64}"/>
              </a:ext>
            </a:extLst>
          </p:cNvPr>
          <p:cNvSpPr/>
          <p:nvPr/>
        </p:nvSpPr>
        <p:spPr>
          <a:xfrm>
            <a:off x="437219" y="2694827"/>
            <a:ext cx="10321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D4C8">
                    <a:alpha val="45000"/>
                  </a:srgbClr>
                </a:solidFill>
                <a:latin typeface="Georgia" pitchFamily="34" charset="0"/>
              </a:rPr>
              <a:t>2</a:t>
            </a:r>
            <a:endParaRPr lang="en-US" sz="36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5B59DDD2-562A-D0B8-0032-8F4745BFF9B8}"/>
              </a:ext>
            </a:extLst>
          </p:cNvPr>
          <p:cNvSpPr/>
          <p:nvPr/>
        </p:nvSpPr>
        <p:spPr>
          <a:xfrm>
            <a:off x="219078" y="3792164"/>
            <a:ext cx="10321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D4C8">
                    <a:alpha val="4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A0000418-9EF7-1011-1E16-4FBF56661117}"/>
              </a:ext>
            </a:extLst>
          </p:cNvPr>
          <p:cNvSpPr/>
          <p:nvPr/>
        </p:nvSpPr>
        <p:spPr>
          <a:xfrm>
            <a:off x="437219" y="3881628"/>
            <a:ext cx="10321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D4C8">
                    <a:alpha val="45000"/>
                  </a:srgbClr>
                </a:solidFill>
                <a:latin typeface="Georgia" pitchFamily="34" charset="0"/>
              </a:rPr>
              <a:t>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67091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BIOLOGICAL MEANING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These Results Actually Tell Us?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640080" cy="228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17830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5720" cy="17830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3716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VS. SPECIFICITY TRADE-OFF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572768"/>
            <a:ext cx="3913632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models: Sensitivity ~0.63–0.64, Specificity ~0.72–0.75. </a:t>
            </a:r>
          </a:p>
          <a:p>
            <a:pPr marL="0" indent="0">
              <a:buNone/>
            </a:pPr>
            <a:endParaRPr lang="en-US" sz="1100" dirty="0">
              <a:solidFill>
                <a:srgbClr val="C8CED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 correctly identifying longer-surviving patients than poor-outcome patients. A meaningful fraction of high-risk patients would still be missed — models support coarse prognostic stratification, not standalone clinical decisions.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17830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5720" cy="17830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13716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TUNING PATTERNS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64608" y="1572768"/>
            <a:ext cx="3730752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EN → Lasso-leaning: a sparse gene subset drives prediction (sharp but noisy signals). </a:t>
            </a:r>
          </a:p>
          <a:p>
            <a:pPr marL="0" indent="0">
              <a:buNone/>
            </a:pPr>
            <a:endParaRPr lang="en-US" sz="1100" dirty="0">
              <a:solidFill>
                <a:srgbClr val="C8CED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EN → Ridge-like: signal spread across many correlated probes, reflecting broader regional methylation structure. Biologically plausible differences in data architecture.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4114800" cy="160020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5720" cy="16002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337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CONTEXT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3538728"/>
            <a:ext cx="391363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~0.75 represents </a:t>
            </a:r>
            <a:r>
              <a:rPr lang="en-US" sz="1100" b="1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discrimination 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clearly above chance. Given only ~80 labelled patients in a rare, heterogeneous cancer, this constitutes meaningful predictive signal rather than noise.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3931920" cy="160020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45720" cy="16002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33375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IMPORTANCE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64608" y="3538728"/>
            <a:ext cx="373075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methylation probes and expression genes are </a:t>
            </a:r>
            <a:r>
              <a:rPr lang="en-US" sz="1100" b="1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of predictive usefulness</a:t>
            </a: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established causal drivers. They provide a valuable starting point for downstream biological investigation into mesothelioma progression pathways.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of This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640080" cy="228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17830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5720" cy="17830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371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572768"/>
            <a:ext cx="3822192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~80 labelled patients available after matching and outcome construction. In a high-dimensional genomic setting, this limits stability and makes estimates sample-sensitive even under repeated cross-validation.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7830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5720" cy="17830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73168" y="1371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OUTCOME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73168" y="1572768"/>
            <a:ext cx="3822192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500-day binary threshold compresses a more complex time-to-event process into a simpler classification task, discarding information about the timing and censoring structure of survival data.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4023360" cy="160020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5720" cy="16002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337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STRATEGY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538728"/>
            <a:ext cx="382219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Multiomic integration used direct feature concatenation. The limited gain should not be taken as evidence that more sophisticated integrative approaches (late-fusion, latent factor models) would also fail.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246120"/>
            <a:ext cx="4023360" cy="160020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3246120"/>
            <a:ext cx="45720" cy="160020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3337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VALIDATION ONLY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73168" y="3538728"/>
            <a:ext cx="382219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rely on repeated internal cross-validation. External validation on an independent mesothelioma cohort is necessary for a stronger assessment of generalisability.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Directions for Future Research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640080" cy="2286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4023360" cy="15544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45720" cy="15544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4081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16184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Validation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956816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mesothelioma cohort to assess true generalisability beyond internal cross-validation.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1298448"/>
            <a:ext cx="4023360" cy="15544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1298448"/>
            <a:ext cx="45720" cy="15544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4081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0" y="16184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Integration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956816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Late-fusion or latent-factor methods to better recover complementary information across omic layers.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35808"/>
            <a:ext cx="4023360" cy="15544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035808"/>
            <a:ext cx="45720" cy="15544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1455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3355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Survival Modelling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694176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binary classification to full time-to-event analysis using censored survival models.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3035808"/>
            <a:ext cx="4023360" cy="1554480"/>
          </a:xfrm>
          <a:prstGeom prst="rect">
            <a:avLst/>
          </a:prstGeom>
          <a:solidFill>
            <a:srgbClr val="131829"/>
          </a:solidFill>
          <a:ln w="9525">
            <a:solidFill>
              <a:srgbClr val="1E264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92040" y="3035808"/>
            <a:ext cx="45720" cy="15544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31455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04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0" y="3355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Biological Follow-up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694176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high-importance methylation probes for mechanistic links to MPM progression pathways.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0" y="2075688"/>
            <a:ext cx="777240" cy="0"/>
          </a:xfrm>
          <a:prstGeom prst="line">
            <a:avLst/>
          </a:prstGeom>
          <a:noFill/>
          <a:ln w="12700">
            <a:solidFill>
              <a:srgbClr val="3A4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057400" y="191109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828800" y="3813048"/>
            <a:ext cx="777240" cy="0"/>
          </a:xfrm>
          <a:prstGeom prst="line">
            <a:avLst/>
          </a:prstGeom>
          <a:noFill/>
          <a:ln w="12700">
            <a:solidFill>
              <a:srgbClr val="3A4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057400" y="364845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4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Genomic data can predict mesothelioma survival 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503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D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methylation leads the way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2103120"/>
          </a:xfrm>
          <a:prstGeom prst="rect">
            <a:avLst/>
          </a:prstGeom>
          <a:solidFill>
            <a:srgbClr val="131829"/>
          </a:solidFill>
          <a:ln w="9525">
            <a:solidFill>
              <a:srgbClr val="00D4C8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36576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Multiomic</a:t>
            </a:r>
            <a:r>
              <a:rPr lang="en-US" sz="12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RF Performs Best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model: AUC = 0.756. Combining expression and methylation produced the strongest discrimination, although the improvement over methylation alone was modest.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1572768"/>
            <a:ext cx="0" cy="1828800"/>
          </a:xfrm>
          <a:prstGeom prst="line">
            <a:avLst/>
          </a:prstGeom>
          <a:noFill/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5544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37560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Methylation Leads Single-Omics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RF achieved AUC = 0.747, outperforming expression-based models. Epigenetic variation appears to carry substantial prognostic signal.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07608" y="1572768"/>
            <a:ext cx="0" cy="1828800"/>
          </a:xfrm>
          <a:prstGeom prst="line">
            <a:avLst/>
          </a:prstGeom>
          <a:noFill/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0" y="15544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080760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1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Wins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2103120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outperformed Elastic Net across the main omics settings, suggesting nonlinear flexibility helped capture molecular structure.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76732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150" i="1" dirty="0">
                <a:solidFill>
                  <a:srgbClr val="C8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show that omics-based survival prediction is feasible in mesothelioma, but the small cohort and high-dimensional feature space mean results should be treated as promising internal evidence rather than clinically validated prediction.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737360" y="4553712"/>
            <a:ext cx="1984248" cy="237744"/>
          </a:xfrm>
          <a:prstGeom prst="roundRect">
            <a:avLst>
              <a:gd name="adj" fmla="val 50000"/>
            </a:avLst>
          </a:prstGeom>
          <a:solidFill>
            <a:srgbClr val="00D4C8">
              <a:alpha val="12000"/>
            </a:srgbClr>
          </a:solidFill>
          <a:ln w="9525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46504" y="457200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KATZ · 21481136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60520" y="4553712"/>
            <a:ext cx="1906524" cy="237744"/>
          </a:xfrm>
          <a:prstGeom prst="roundRect">
            <a:avLst>
              <a:gd name="adj" fmla="val 50000"/>
            </a:avLst>
          </a:prstGeom>
          <a:solidFill>
            <a:srgbClr val="00D4C8">
              <a:alpha val="12000"/>
            </a:srgbClr>
          </a:solidFill>
          <a:ln w="9525">
            <a:solidFill>
              <a:srgbClr val="00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69664" y="4572000"/>
            <a:ext cx="1888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NEVIN SOJI · 21488043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83680" y="4553712"/>
            <a:ext cx="585216" cy="237744"/>
          </a:xfrm>
          <a:prstGeom prst="roundRect">
            <a:avLst>
              <a:gd name="adj" fmla="val 50000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92824" y="457200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1890</Words>
  <Application>Microsoft Macintosh PowerPoint</Application>
  <PresentationFormat>On-screen Show (16:9)</PresentationFormat>
  <Paragraphs>344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Georgia</vt:lpstr>
      <vt:lpstr>Inter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Mesothelioma Survival</dc:title>
  <dc:subject>PptxGenJS Presentation</dc:subject>
  <dc:creator>Daniel Katz &amp; Nevin Soji</dc:creator>
  <cp:lastModifiedBy>Katzy Katz</cp:lastModifiedBy>
  <cp:revision>5</cp:revision>
  <dcterms:created xsi:type="dcterms:W3CDTF">2026-05-13T01:17:15Z</dcterms:created>
  <dcterms:modified xsi:type="dcterms:W3CDTF">2026-05-13T11:19:49Z</dcterms:modified>
</cp:coreProperties>
</file>